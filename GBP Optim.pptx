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412" r:id="rId4"/>
    <p:sldId id="430" r:id="rId5"/>
    <p:sldId id="413" r:id="rId6"/>
    <p:sldId id="423" r:id="rId7"/>
    <p:sldId id="424" r:id="rId8"/>
    <p:sldId id="425" r:id="rId9"/>
    <p:sldId id="414" r:id="rId10"/>
    <p:sldId id="420" r:id="rId11"/>
    <p:sldId id="415" r:id="rId12"/>
    <p:sldId id="416" r:id="rId13"/>
    <p:sldId id="426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2" r:id="rId25"/>
    <p:sldId id="441" r:id="rId26"/>
    <p:sldId id="443" r:id="rId27"/>
    <p:sldId id="444" r:id="rId28"/>
    <p:sldId id="417" r:id="rId29"/>
    <p:sldId id="419" r:id="rId30"/>
    <p:sldId id="418" r:id="rId31"/>
    <p:sldId id="429" r:id="rId32"/>
    <p:sldId id="428" r:id="rId33"/>
    <p:sldId id="277" r:id="rId34"/>
  </p:sldIdLst>
  <p:sldSz cx="12192000" cy="6858000"/>
  <p:notesSz cx="6858000" cy="9144000"/>
  <p:embeddedFontLst>
    <p:embeddedFont>
      <p:font typeface="Noto Sans CJK KR Medium" panose="020B0600000101010101" charset="-127"/>
      <p:regular r:id="rId36"/>
    </p:embeddedFont>
    <p:embeddedFont>
      <p:font typeface="Cambria Math" panose="02040503050406030204" pitchFamily="18" charset="0"/>
      <p:regular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848FD-1507-40CD-9249-B1C8659B53F8}" v="109" dt="2024-12-14T12:08:05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84641" autoAdjust="0"/>
  </p:normalViewPr>
  <p:slideViewPr>
    <p:cSldViewPr snapToGrid="0">
      <p:cViewPr varScale="1">
        <p:scale>
          <a:sx n="134" d="100"/>
          <a:sy n="134" d="100"/>
        </p:scale>
        <p:origin x="960" y="132"/>
      </p:cViewPr>
      <p:guideLst/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9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D9ED5-2EDF-4CE0-ACEE-331D29A84F0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58C00-2F92-472A-A900-17CDE33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1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823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625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0383-4AE8-9700-AE2E-CD5917AA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EE074A-E6D6-87D3-3B3E-2CB641E70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2502BF-8C35-805B-4332-0BB7035EE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E8AC1-E204-56BB-C0E3-43000A9F4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742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9408-F4A0-802D-3A1B-A555242A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6F0B2-ECE5-64F8-FFE3-2D4FFBCD0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F1467-21DC-F1D3-B40D-8A21A2159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CCFA91-1372-D8C2-8B13-26E2E4B62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396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9DE3-3DE7-E61A-D2CB-2797E2E7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6B16F-6108-7267-9F3A-AD1E550EF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0D5E51-A419-2574-C317-18C2CA446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CD9F7-9BA3-8767-23BF-4CCBCD529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131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9D389-8DB4-E703-3622-4DDC1267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22614-8453-5EDC-CE44-657AC3366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B90F8-18FF-5A8C-2727-518FE85DC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AEC3C9-5570-5186-5E4E-991979E13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353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93A0-8426-CCFA-F589-948B9C30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5A6DD-0FDF-396C-7D63-257FAEB60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701D37-E801-1D9B-6EDD-38F1F5E85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29143-8D05-D61A-57F6-444A037D0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291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2F0B-4E66-EAB5-10C5-A9C00EF5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F26198-05DF-3C9F-0756-0D11D696C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5D2C4B-6CD3-8AC7-4092-FEADBE8DE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C7687B-C989-BC27-493E-11F4E79A0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197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CBE2-6FDE-7828-ADD4-190629E9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CAFDE0-B64A-0BAA-3B1C-16557E6ED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82865F-D9F2-6B1A-4779-B4148961C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ADC0D-6AAF-8DB1-D0F5-488C13C4A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90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7863-F0E6-3807-498E-4B7F1DD3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950538-BE0A-BFDE-7F94-78AED6578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953058-0D0E-7B7F-A1B2-FD1460A49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60C1D-C149-6647-7D5F-654EF8DB5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03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F23F-04DC-F7FE-FBA7-4B893BBF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7DB7D-6483-5B50-57E0-5D857BC53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965720-685C-7D93-66E4-527765257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609CB1-E7BF-E3DA-C482-F1FEC3688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736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3BEA-DC0F-E253-4C4A-278ADD12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371CC1-596E-C373-4EA2-B29C95E37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75E7CD-DBC3-FD68-4832-F0C1CE16E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D0F7C-6F31-49FD-5079-D80C7D737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783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D654-40EC-1A9E-7C96-A19D93FF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372B00-4FA3-DFAA-A435-1A52DF3E0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7F4A20-A973-4F3C-F052-DC3F1F113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7C0533-D55E-F067-1275-50D7EDD53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198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4A93-E2CF-FDE9-BDDC-93AEDCEB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1E2B3-6EBC-6703-F6C7-B8FB23A6A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449F86-AE61-B4AD-36A1-87FFEC01A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E0CC6-F302-84DB-0C5F-FBAD8C009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05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A4D8-E996-E542-4E5C-DD5BDD14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5F9CFF-1A28-FD95-D646-B78AB0CB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E21CEF-7DD2-F392-2E15-92CD15E08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21A73B-3F68-9A63-FA94-8A8D77122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028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1CC8-A9F3-D8E9-F316-BFF07BFA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842C9C-2EBB-096E-72E1-AADA0EA5F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9A3D14-01C7-5C03-6946-9A43DDDEB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7F79A-B085-F94A-387C-3A983F981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50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D3EA-40D1-2EF6-6BCF-03FD6EB0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4052CD-2D30-7269-6198-B6C8FC0F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9AE942-890F-7274-618D-4E8664FB7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339E4-4024-8394-CB25-35D8AEFC9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080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802C-0D74-1427-F505-6EA67072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EF914-BD8C-55E2-7DAA-FFA082328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43DA-D76B-E809-B02E-0DB5BFE0A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8EBA30-0451-2D92-9DD7-18B21A4D7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32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7748-AC2F-54E3-D0DA-ADFA1D49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37CDBD-6BB9-94E9-13D9-E45F05905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738DD2-5240-AC50-2867-82DE2B386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9F7B28-2054-849D-61A1-881FE900C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725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0613-2D9F-8078-F504-D34E16DD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8C0C92-6FEC-107F-75AE-0B6612101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88A9A6-6BEE-F5B2-0DEC-48DAF4040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D32CC-4E9E-3A55-1CC7-86736D232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422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070F-83B4-EBB9-5691-3397D005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7EB6AC-1199-2D8E-58F3-BC10FF73A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55693F-0115-9152-98E5-793F73B73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B81B3A-1F18-95B8-19FA-21D833033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460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6988-8B80-2128-329C-5A6DADA7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A7DD92-C926-1103-9AFF-84AF0B2B1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29C81-5773-E9A0-CB5A-DD11BA37D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3D4AD-CC1B-2182-34D6-2257F0F27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844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F243-5020-5E93-A4CE-A42C63F3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D5C9CC-618E-C292-2E62-48F0755E3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AEF981-5974-CCD8-6600-9716FE63B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20E70C-88C6-8D87-22A1-752E3568C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831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31E-35DA-5756-80E9-87616E15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B5851-AA14-833C-1A41-EF61F6228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3A1C42-B2D2-F863-1707-363C5826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A5B072-D92B-C8B0-9D21-86F32A510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146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07C6-8828-ECA8-5694-9B8BC897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129B5E-BC2B-3EBF-CD5C-2323AB44A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A4F804-FA02-C708-2BC7-6FE0FEA07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D3601-315F-A4C7-F669-DAD68E3EC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663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F430-B85D-D7EF-ADF1-E8C8CEA8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2555C8-6A39-2D16-49DB-B5D8BC7D0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E5EBFE-2485-DED1-7068-BB131EA8D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C43BB0-23B1-533D-D7AE-2037FA78B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243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1373-F0ED-018E-07B2-AFF6A67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80FCB4-6801-5446-0995-9762B9EAF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ACDE15-ACB8-50F8-6F66-2128548F3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FD056-288D-13FD-2C3A-434B4DF88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417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A028-E182-1A99-D539-FF83CD37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2B2BDD-E6C7-542E-0261-D186E7BF3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0811A3-0A9C-F56E-6551-6E99C2ACB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ECE9B-2C55-E601-02FD-83CC6DA67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7756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CA3C-2898-4BD3-038E-2828BC45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DC868D-36C3-BC7F-52BF-1BC9FADFE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FA92C5-9880-FC5A-E8A2-8E357A8F7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AFEE2F-F7B7-5221-98AB-FB6F5B1FD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7372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91C9-4F2E-5362-E602-F642B7B0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EBDD6A-37AD-263C-6043-CB17B210C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A92CB-C06C-4864-B39F-0A0E5120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6DB348-55B0-0688-922F-3CD4A464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0183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16EB9-C999-8530-54F5-6E7AAE18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F9A310-1E3F-167E-E712-74F7DE7B7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3A58E-F01A-8F35-B86B-AFE8EB5F1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ED4401-C7F3-CD29-5B15-4D1715CA8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4146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AB12-DB31-4078-B7BF-BDC68399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88264A-BF7B-C1BC-2E70-09978E08F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5D8823-F4D5-F3E6-7BE3-316CE06A9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AC555-9068-10AA-AE5E-C0401E964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2174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 발표를 마치겠습니다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58C00-2F92-472A-A900-17CDE33785D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6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E2BAD-AAA2-0FD4-6BBD-D02326D3D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3CDEF-90E3-0471-7FF2-03420CF89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637EB-68F6-9054-3270-2951B59C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218EF-9FE4-8884-20E7-7A969355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9EC17-D8BB-7E9B-27A3-2C3BFB0E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8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019CA-1986-0FB1-1444-8A028093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8B9C9-0BFE-E819-2440-C8F2130C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C70BC-7847-ADCD-B924-3951965B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A304F-8E73-9964-00F3-A29C4B19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20053-58A7-E0C0-945A-2C7B8A91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225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F9B7D-94CA-8533-CA96-432E7C33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02A3F8-F0DB-321E-60DC-EDBBB6F99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72529B-FF96-42C2-4380-3392C7B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4D967-F778-B597-2B4E-E7DBDDD4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A5D7E-CC1E-41F9-1F0C-5005E927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6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E614B-35BF-AEFE-4364-E0E5EBDD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AA4DD-2A5E-37B9-EA8A-741F63F30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F094C6-005F-38EA-2541-78D9180E8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94BC2D-F8DB-BACD-9F95-D880AFEB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823CDA-0AE0-C283-47A2-3D24CF06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9E58F-AB55-4065-B69A-51E2A96A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37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FD3E8-D3E9-A5C4-B3CF-4E31D0BF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B2B610-A4B3-BE5C-5CCE-AA133E4D3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EF7F1D-DDFA-9834-6FD3-05C99C816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FAD03-FCF3-F03D-47ED-3294827CD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26AA1A-9573-871E-D37C-C815CB43C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9F3DF5-4B35-52FD-FCF5-CE92762C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48C85C-C04E-5F34-15F4-EA2C44CA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CD4320-4613-D29B-4CC6-778BC5FD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1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7B1E-951A-E028-470C-176B8B87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97B615-B59C-FC6C-6CF4-47DBC2A9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65D091-DF88-ADC2-20B2-D37C7A88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E29F5-02CC-7F96-5AE7-671851C9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1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F60872-C454-5259-D516-43D587A3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A7AC94-D5E6-8183-205C-07128FF5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189B3-9910-11AA-70DB-19B7C1EC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4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968B8-3171-ECDB-EE2E-C3E4AC86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87BC22-763E-D7C6-1EC2-BA35D5760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864CEF-D2CC-5196-629D-4B103BB06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D581DD-6887-5146-83B3-42A990D55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9D8C55-12B0-4815-6243-AD874736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BB5791-C090-CDB1-B40B-909F6307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4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CBAD8-CE4A-68F4-1A8D-1D888B3B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F2B3F1-31B0-2AA6-492C-CEF11C568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67A700-C827-11E5-529A-B1C1A6BB3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BCD7CE-2BB7-228B-896E-A8FBFF58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A49FE2-AFFE-1C46-F59F-4CC7B606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F0DFC0-54C7-D09D-D4D9-116ECACA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29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A22C1-6022-FAF0-66EC-F6C63A2D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D37667-A744-AD5B-B725-645504B38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15985-3D57-BDB9-FBCD-18B01628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40F3B-9D4E-4F53-00D1-49FAA67B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D670E-FFB8-BDDB-D2FC-29462A98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82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7570CE-49E6-6CE8-A528-4AC5AFDBC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C7FAD3-0E50-0120-F389-4C991A45F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64986-629D-6A2C-2D5B-E4029CCC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612043-484B-8166-C3BF-AA7F2910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BA0ED-C933-23B3-3715-F7912AB1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04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CB3408-01EB-D17F-B81F-E86045A9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948C60-FCE5-C604-D292-014E18CB2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A307A-E384-6F0A-7113-B5A4970C9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1DA53-9C40-457B-B45B-6B5C3F35812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31054-FBAF-A161-1820-1CE9F5711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2C4AC-D188-EA7A-B540-E19900F79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3EC47-534E-4AD8-991C-F7EF0A7A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35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undragon/PythonPDEVS/blob/main/controller.py" TargetMode="External"/><Relationship Id="rId5" Type="http://schemas.openxmlformats.org/officeDocument/2006/relationships/hyperlink" Target="https://github.com/Hundragon/PythonPDEVS/blob/main/solver.py" TargetMode="External"/><Relationship Id="rId4" Type="http://schemas.openxmlformats.org/officeDocument/2006/relationships/hyperlink" Target="https://github.com/capocchi/PythonPDEV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yeji11138@seoultech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D573B54-9AB6-CE9D-A90D-5B9EAE8EF422}"/>
              </a:ext>
            </a:extLst>
          </p:cNvPr>
          <p:cNvCxnSpPr>
            <a:cxnSpLocks/>
          </p:cNvCxnSpPr>
          <p:nvPr/>
        </p:nvCxnSpPr>
        <p:spPr>
          <a:xfrm>
            <a:off x="428065" y="722088"/>
            <a:ext cx="7485529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D10CB2-6760-D064-1A10-9A10EDEAD489}"/>
              </a:ext>
            </a:extLst>
          </p:cNvPr>
          <p:cNvSpPr txBox="1"/>
          <p:nvPr/>
        </p:nvSpPr>
        <p:spPr>
          <a:xfrm>
            <a:off x="428065" y="1362748"/>
            <a:ext cx="10544735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GBP </a:t>
            </a:r>
            <a:r>
              <a:rPr lang="ko-KR" altLang="en-US" sz="2400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기반의 </a:t>
            </a:r>
            <a:r>
              <a:rPr lang="en-US" altLang="ko-KR" sz="2400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Simulation-based optimization </a:t>
            </a:r>
            <a:r>
              <a:rPr lang="ko-KR" altLang="en-US" sz="2400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0A8A8D-C4CE-989B-8DCC-383A1DF44E44}"/>
              </a:ext>
            </a:extLst>
          </p:cNvPr>
          <p:cNvSpPr txBox="1"/>
          <p:nvPr/>
        </p:nvSpPr>
        <p:spPr>
          <a:xfrm>
            <a:off x="428064" y="5514164"/>
            <a:ext cx="8397689" cy="65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서울과학기술대학교 일반대학원 </a:t>
            </a:r>
            <a:r>
              <a:rPr lang="en-US" altLang="ko-KR" sz="12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DTLAB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최예지</a:t>
            </a:r>
            <a:endParaRPr lang="en-US" altLang="ko-KR" sz="1400" b="1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C9F8D-7A2E-327F-8B5A-BB56E086F8F7}"/>
              </a:ext>
            </a:extLst>
          </p:cNvPr>
          <p:cNvSpPr txBox="1"/>
          <p:nvPr/>
        </p:nvSpPr>
        <p:spPr>
          <a:xfrm>
            <a:off x="428064" y="984174"/>
            <a:ext cx="58711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생산기술연구원</a:t>
            </a:r>
          </a:p>
        </p:txBody>
      </p:sp>
      <p:pic>
        <p:nvPicPr>
          <p:cNvPr id="1026" name="Picture 2" descr="개별이미지 시그니춰 좌우조합(국문)">
            <a:extLst>
              <a:ext uri="{FF2B5EF4-FFF2-40B4-BE49-F238E27FC236}">
                <a16:creationId xmlns:a16="http://schemas.microsoft.com/office/drawing/2014/main" id="{133CB192-386A-7D13-5079-6A069E2AD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" t="9272" r="49998" b="50898"/>
          <a:stretch/>
        </p:blipFill>
        <p:spPr bwMode="auto">
          <a:xfrm>
            <a:off x="8830235" y="5587320"/>
            <a:ext cx="2933700" cy="504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1E650-8CBC-4124-4728-C24F44BAC35E}"/>
              </a:ext>
            </a:extLst>
          </p:cNvPr>
          <p:cNvSpPr txBox="1"/>
          <p:nvPr/>
        </p:nvSpPr>
        <p:spPr>
          <a:xfrm>
            <a:off x="11444848" y="6493614"/>
            <a:ext cx="63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2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400" dirty="0">
              <a:solidFill>
                <a:schemeClr val="bg2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A41DA9-991B-2A73-2C79-EC4F6D94465E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06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"/>
    </mc:Choice>
    <mc:Fallback xmlns="">
      <p:transition spd="slow" advTm="177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B399B4E-53BE-22FC-3CE7-836B14BEEBD5}"/>
              </a:ext>
            </a:extLst>
          </p:cNvPr>
          <p:cNvSpPr/>
          <p:nvPr/>
        </p:nvSpPr>
        <p:spPr>
          <a:xfrm>
            <a:off x="-1" y="-21012"/>
            <a:ext cx="637615" cy="68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A41CA-B08A-7CE2-22DE-2BD10A87135E}"/>
              </a:ext>
            </a:extLst>
          </p:cNvPr>
          <p:cNvSpPr txBox="1"/>
          <p:nvPr/>
        </p:nvSpPr>
        <p:spPr>
          <a:xfrm>
            <a:off x="739215" y="368224"/>
            <a:ext cx="1019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2019940-E3BC-E1A8-880F-423AC2AD230C}"/>
              </a:ext>
            </a:extLst>
          </p:cNvPr>
          <p:cNvGrpSpPr/>
          <p:nvPr/>
        </p:nvGrpSpPr>
        <p:grpSpPr>
          <a:xfrm>
            <a:off x="1333944" y="1915123"/>
            <a:ext cx="9366823" cy="461665"/>
            <a:chOff x="1703265" y="1942303"/>
            <a:chExt cx="9366823" cy="4616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5AB262-43AC-A590-0A63-CBC7299ED7E5}"/>
                </a:ext>
              </a:extLst>
            </p:cNvPr>
            <p:cNvSpPr txBox="1"/>
            <p:nvPr/>
          </p:nvSpPr>
          <p:spPr>
            <a:xfrm>
              <a:off x="1703265" y="1942303"/>
              <a:ext cx="64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01</a:t>
              </a:r>
              <a:endPara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430496-343A-DE0D-E281-D5DF0BF9E9E1}"/>
                </a:ext>
              </a:extLst>
            </p:cNvPr>
            <p:cNvSpPr txBox="1"/>
            <p:nvPr/>
          </p:nvSpPr>
          <p:spPr>
            <a:xfrm>
              <a:off x="2404037" y="1988470"/>
              <a:ext cx="8666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환경 설정</a:t>
              </a:r>
              <a:endParaRPr lang="en-US" altLang="ko-KR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5403535-4EBF-10D9-CF7D-1211343D0B76}"/>
                </a:ext>
              </a:extLst>
            </p:cNvPr>
            <p:cNvCxnSpPr>
              <a:cxnSpLocks/>
            </p:cNvCxnSpPr>
            <p:nvPr/>
          </p:nvCxnSpPr>
          <p:spPr>
            <a:xfrm>
              <a:off x="2404038" y="2030231"/>
              <a:ext cx="0" cy="285810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791CC1C-94C9-F154-0E2C-3B3C92F514A2}"/>
              </a:ext>
            </a:extLst>
          </p:cNvPr>
          <p:cNvGrpSpPr/>
          <p:nvPr/>
        </p:nvGrpSpPr>
        <p:grpSpPr>
          <a:xfrm>
            <a:off x="1333944" y="2333423"/>
            <a:ext cx="9366823" cy="461665"/>
            <a:chOff x="1703265" y="1942303"/>
            <a:chExt cx="9366823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2E3D17-709A-1323-B052-8D60487E0E53}"/>
                </a:ext>
              </a:extLst>
            </p:cNvPr>
            <p:cNvSpPr txBox="1"/>
            <p:nvPr/>
          </p:nvSpPr>
          <p:spPr>
            <a:xfrm>
              <a:off x="1703265" y="1942303"/>
              <a:ext cx="64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02</a:t>
              </a:r>
              <a:endPara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A43165-0771-F190-43A2-0203C6E24436}"/>
                </a:ext>
              </a:extLst>
            </p:cNvPr>
            <p:cNvSpPr txBox="1"/>
            <p:nvPr/>
          </p:nvSpPr>
          <p:spPr>
            <a:xfrm>
              <a:off x="2404037" y="1988470"/>
              <a:ext cx="8666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GBP</a:t>
              </a:r>
              <a:r>
                <a:rPr lang="ko-KR" altLang="en-US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 예제</a:t>
              </a:r>
              <a:endParaRPr lang="en-US" altLang="ko-KR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7DA6267-60E8-3022-D068-00C3EA03B526}"/>
                </a:ext>
              </a:extLst>
            </p:cNvPr>
            <p:cNvCxnSpPr>
              <a:cxnSpLocks/>
            </p:cNvCxnSpPr>
            <p:nvPr/>
          </p:nvCxnSpPr>
          <p:spPr>
            <a:xfrm>
              <a:off x="2404038" y="2030231"/>
              <a:ext cx="0" cy="285810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136B08C-60D9-7D94-3903-2EE07036C31B}"/>
              </a:ext>
            </a:extLst>
          </p:cNvPr>
          <p:cNvGrpSpPr/>
          <p:nvPr/>
        </p:nvGrpSpPr>
        <p:grpSpPr>
          <a:xfrm>
            <a:off x="1333944" y="2751723"/>
            <a:ext cx="9366823" cy="461665"/>
            <a:chOff x="1703265" y="1942303"/>
            <a:chExt cx="9366823" cy="46166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485BC2-3247-6747-0FFB-22207FC8CEF0}"/>
                </a:ext>
              </a:extLst>
            </p:cNvPr>
            <p:cNvSpPr txBox="1"/>
            <p:nvPr/>
          </p:nvSpPr>
          <p:spPr>
            <a:xfrm>
              <a:off x="1703265" y="1942303"/>
              <a:ext cx="64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03</a:t>
              </a:r>
              <a:endPara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CAB079-BADA-A1B0-9C95-F5AB41B5A46A}"/>
                </a:ext>
              </a:extLst>
            </p:cNvPr>
            <p:cNvSpPr txBox="1"/>
            <p:nvPr/>
          </p:nvSpPr>
          <p:spPr>
            <a:xfrm>
              <a:off x="2404037" y="1988470"/>
              <a:ext cx="8666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강화학습 모델 설정</a:t>
              </a:r>
              <a:endParaRPr lang="en-US" altLang="ko-KR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65FE918-D80C-150E-7554-87228E090EDB}"/>
                </a:ext>
              </a:extLst>
            </p:cNvPr>
            <p:cNvCxnSpPr>
              <a:cxnSpLocks/>
            </p:cNvCxnSpPr>
            <p:nvPr/>
          </p:nvCxnSpPr>
          <p:spPr>
            <a:xfrm>
              <a:off x="2404038" y="2030231"/>
              <a:ext cx="0" cy="285810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BE67AD3-52F4-9958-90FB-F5834DD27D03}"/>
              </a:ext>
            </a:extLst>
          </p:cNvPr>
          <p:cNvGrpSpPr/>
          <p:nvPr/>
        </p:nvGrpSpPr>
        <p:grpSpPr>
          <a:xfrm>
            <a:off x="1333944" y="3167222"/>
            <a:ext cx="9366823" cy="461665"/>
            <a:chOff x="1703265" y="1942303"/>
            <a:chExt cx="9366823" cy="4616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F85DB6-BD1D-6C04-8789-A106334660B8}"/>
                </a:ext>
              </a:extLst>
            </p:cNvPr>
            <p:cNvSpPr txBox="1"/>
            <p:nvPr/>
          </p:nvSpPr>
          <p:spPr>
            <a:xfrm>
              <a:off x="1703265" y="1942303"/>
              <a:ext cx="64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04</a:t>
              </a:r>
              <a:endPara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99B67C-04BF-3A70-C1E8-372841C15556}"/>
                </a:ext>
              </a:extLst>
            </p:cNvPr>
            <p:cNvSpPr txBox="1"/>
            <p:nvPr/>
          </p:nvSpPr>
          <p:spPr>
            <a:xfrm>
              <a:off x="2404037" y="1988470"/>
              <a:ext cx="8666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강화학습 기반 파라미터 최적화 결과</a:t>
              </a:r>
              <a:endParaRPr lang="en-US" altLang="ko-KR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A288F83-396C-DBB8-FCB7-8623745F0504}"/>
                </a:ext>
              </a:extLst>
            </p:cNvPr>
            <p:cNvCxnSpPr>
              <a:cxnSpLocks/>
            </p:cNvCxnSpPr>
            <p:nvPr/>
          </p:nvCxnSpPr>
          <p:spPr>
            <a:xfrm>
              <a:off x="2404038" y="2030231"/>
              <a:ext cx="0" cy="285810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53349E4-9B98-D4CB-F937-710D14636DBF}"/>
              </a:ext>
            </a:extLst>
          </p:cNvPr>
          <p:cNvGrpSpPr/>
          <p:nvPr/>
        </p:nvGrpSpPr>
        <p:grpSpPr>
          <a:xfrm>
            <a:off x="1333944" y="3580321"/>
            <a:ext cx="9366823" cy="461665"/>
            <a:chOff x="1703265" y="1942303"/>
            <a:chExt cx="9366823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2ED715-F120-72E9-0C80-CE3742EFB41C}"/>
                </a:ext>
              </a:extLst>
            </p:cNvPr>
            <p:cNvSpPr txBox="1"/>
            <p:nvPr/>
          </p:nvSpPr>
          <p:spPr>
            <a:xfrm>
              <a:off x="1703265" y="1942303"/>
              <a:ext cx="64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05</a:t>
              </a:r>
              <a:endParaRPr lang="ko-KR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770646-F220-FCD1-7F87-00154362A082}"/>
                </a:ext>
              </a:extLst>
            </p:cNvPr>
            <p:cNvSpPr txBox="1"/>
            <p:nvPr/>
          </p:nvSpPr>
          <p:spPr>
            <a:xfrm>
              <a:off x="2404037" y="1988470"/>
              <a:ext cx="86660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결론</a:t>
              </a:r>
              <a:endParaRPr lang="en-US" altLang="ko-KR" b="1" dirty="0"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2AC8393-EE5E-6957-DDC2-E02792697943}"/>
                </a:ext>
              </a:extLst>
            </p:cNvPr>
            <p:cNvCxnSpPr>
              <a:cxnSpLocks/>
            </p:cNvCxnSpPr>
            <p:nvPr/>
          </p:nvCxnSpPr>
          <p:spPr>
            <a:xfrm>
              <a:off x="2404038" y="2030231"/>
              <a:ext cx="0" cy="285810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163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ECD3-B556-AF17-53A9-FB282E27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7763F8-7DCF-BA6A-0996-057008C759A1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01.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환경 설정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CAB783-C399-DBCB-E584-88AD9E544801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F2A20-3C80-AEB8-D47F-DAFA6AF86BD8}"/>
              </a:ext>
            </a:extLst>
          </p:cNvPr>
          <p:cNvSpPr txBox="1"/>
          <p:nvPr/>
        </p:nvSpPr>
        <p:spPr>
          <a:xfrm>
            <a:off x="395286" y="1589751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가상환경 생성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20419-43A2-F42F-34AD-14AC0BFA15D5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환경 설정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25B2DF-581C-7CCB-6CE7-4339B917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020638"/>
            <a:ext cx="4799652" cy="193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F222B-231E-0237-1FB3-F146AAF0495E}"/>
              </a:ext>
            </a:extLst>
          </p:cNvPr>
          <p:cNvSpPr txBox="1"/>
          <p:nvPr/>
        </p:nvSpPr>
        <p:spPr>
          <a:xfrm>
            <a:off x="395286" y="2290964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PythonPDEVS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깃 클론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git clone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  <a:hlinkClick r:id="rId4"/>
              </a:rPr>
              <a:t>https://github.com/capocchi/PythonPDEVS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93609-4725-B895-83A7-4F4CA8BC8EDF}"/>
              </a:ext>
            </a:extLst>
          </p:cNvPr>
          <p:cNvSpPr txBox="1"/>
          <p:nvPr/>
        </p:nvSpPr>
        <p:spPr>
          <a:xfrm>
            <a:off x="395286" y="3017476"/>
            <a:ext cx="11730038" cy="10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PythonPDEVS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src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pypdevs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 Solver.py, Controller.py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수정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파이썬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3.X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이상에서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pydevs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활용하려면 필수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Solver.py: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  <a:hlinkClick r:id="rId5"/>
              </a:rPr>
              <a:t>https://github.com/Hundragon/PythonPDEVS/blob/main/solver.py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Controller.py: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  <a:hlinkClick r:id="rId6"/>
              </a:rPr>
              <a:t>https://github.com/Hundragon/PythonPDEVS/blob/main/controller.py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5B95C-4AFE-F2DA-E2D4-54D57D5F2755}"/>
              </a:ext>
            </a:extLst>
          </p:cNvPr>
          <p:cNvSpPr txBox="1"/>
          <p:nvPr/>
        </p:nvSpPr>
        <p:spPr>
          <a:xfrm>
            <a:off x="395286" y="4041855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cd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PythonPDEVS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src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실행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python -m pip install -e .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실행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9A027-C785-0658-A24E-C66A6303BDB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170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2898-06F7-A3B6-27BE-8BA1F6ED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D711D0-7004-BA0F-7418-0C5A0AB26EED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207F36-F5BC-34A4-0957-E4F0626E2690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843D2-9FEC-9EDD-424F-E0B96FD0ABFE}"/>
              </a:ext>
            </a:extLst>
          </p:cNvPr>
          <p:cNvSpPr txBox="1"/>
          <p:nvPr/>
        </p:nvSpPr>
        <p:spPr>
          <a:xfrm>
            <a:off x="395286" y="1589751"/>
            <a:ext cx="11730038" cy="232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시스템 구성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Generator,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Buffer,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Processor,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Collector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라는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가지의 독립적인 원자 모델로 구성된 복합 시스템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작업 흐름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Generator: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일정 간격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 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interarrival)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으로 작업 생성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작업에는 소요 시간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(size)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 할당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Buffer: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여러 개의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앞에 있는 버퍼 역할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유휴 상태인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있으면 대기 중인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Job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즉시 전달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Processor: Job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받아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service rate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따라 정해진 시간 동안 처리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처리 끝나면 완료 신호 출력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Collector: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완료된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Job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들을 수집해 주요 성능 지표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66ADD-800B-E8BB-4F79-8605CBFD7C9F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[Framework]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A76BB-EA87-F570-472E-CA84B2EF390F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04/32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407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CA9B3-27D9-024B-67CA-48804BD0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BE53B0-1C35-3FE9-7E55-579C4DA06AC6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C030C9-FA67-EDA0-57F9-97953929C1E0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BF692-4F89-940D-CE29-E74A47884DC1}"/>
                  </a:ext>
                </a:extLst>
              </p:cNvPr>
              <p:cNvSpPr txBox="1"/>
              <p:nvPr/>
            </p:nvSpPr>
            <p:spPr>
              <a:xfrm>
                <a:off x="395286" y="1922718"/>
                <a:ext cx="11730038" cy="4333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역할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생성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생성할 작업 수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(left),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다음 생성까지 남은 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(remaining),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다음 작업 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ID(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next_id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현재 시뮬레이션 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(now)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𝑆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𝑙𝑒𝑓𝑡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 ∈</m:t>
                          </m:r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𝑟𝑒𝑚𝑎𝑖𝑛𝑖𝑛𝑔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≥0,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𝑛𝑒𝑥𝑡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X: Generator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는 외부 입력  없음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Y: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하나의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객체를 포함하는 리스트 집합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𝑌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𝐽𝑜𝑏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𝑖𝑛𝑡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생성하고 남은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수와 시간을 업데이트하며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, Job ID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를 증가시킴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𝑖𝑛𝑡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𝑙𝑒𝑓𝑡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−1,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𝑛𝑒𝑤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𝑟𝑒𝑚𝑎𝑖𝑛𝑖𝑛𝑔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,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𝑛𝑒𝑥𝑡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𝑖𝑑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+1, 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𝑛𝑜𝑤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𝑟𝑒𝑚𝑎𝑖𝑛𝑖𝑛𝑔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}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Generator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는 해당 없음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새로운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객체 생성하여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형태로 반환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𝑡𝑎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eqArr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𝑟𝑒𝑚𝑎𝑖𝑛𝑖𝑛𝑔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𝑖𝑓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𝑙𝑒𝑓𝑡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∞,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𝑖𝑓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𝑙𝑒𝑓𝑡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BF692-4F89-940D-CE29-E74A47884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922718"/>
                <a:ext cx="11730038" cy="4333815"/>
              </a:xfrm>
              <a:prstGeom prst="rect">
                <a:avLst/>
              </a:prstGeom>
              <a:blipFill>
                <a:blip r:embed="rId3"/>
                <a:stretch>
                  <a:fillRect l="-2339" b="-261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82298E9-0841-210F-EC6E-47CB44265F90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[Atomic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Model]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531BB-AA75-6705-80BB-5CDAF929E583}"/>
              </a:ext>
            </a:extLst>
          </p:cNvPr>
          <p:cNvSpPr txBox="1"/>
          <p:nvPr/>
        </p:nvSpPr>
        <p:spPr>
          <a:xfrm>
            <a:off x="395286" y="1589751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(1)</a:t>
            </a:r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C88F03-5F65-2DC4-7D7A-1A04DFF5D2A9}"/>
                  </a:ext>
                </a:extLst>
              </p:cNvPr>
              <p:cNvSpPr txBox="1"/>
              <p:nvPr/>
            </p:nvSpPr>
            <p:spPr>
              <a:xfrm>
                <a:off x="10086974" y="5699136"/>
                <a:ext cx="2119314" cy="704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𝑍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양의 정수의 집합</a:t>
                </a:r>
                <a:endParaRPr lang="en-US" altLang="ko-KR" sz="1400" dirty="0">
                  <a:solidFill>
                    <a:schemeClr val="bg2">
                      <a:lumMod val="7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𝑅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실수의 집합</a:t>
                </a:r>
                <a:endParaRPr lang="en-US" altLang="ko-KR" sz="1400" dirty="0">
                  <a:solidFill>
                    <a:schemeClr val="bg2">
                      <a:lumMod val="7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C88F03-5F65-2DC4-7D7A-1A04DFF5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74" y="5699136"/>
                <a:ext cx="2119314" cy="704424"/>
              </a:xfrm>
              <a:prstGeom prst="rect">
                <a:avLst/>
              </a:prstGeom>
              <a:blipFill>
                <a:blip r:embed="rId4"/>
                <a:stretch>
                  <a:fillRect l="-865" b="-78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DA47CA0E-5EFA-1F11-64B3-CEFFE4C29CEF}"/>
              </a:ext>
            </a:extLst>
          </p:cNvPr>
          <p:cNvGrpSpPr/>
          <p:nvPr/>
        </p:nvGrpSpPr>
        <p:grpSpPr>
          <a:xfrm>
            <a:off x="9340847" y="3199113"/>
            <a:ext cx="2689227" cy="533400"/>
            <a:chOff x="7397747" y="651996"/>
            <a:chExt cx="2689227" cy="533400"/>
          </a:xfrm>
        </p:grpSpPr>
        <p:sp>
          <p:nvSpPr>
            <p:cNvPr id="29" name="Oval 4">
              <a:extLst>
                <a:ext uri="{FF2B5EF4-FFF2-40B4-BE49-F238E27FC236}">
                  <a16:creationId xmlns:a16="http://schemas.microsoft.com/office/drawing/2014/main" id="{84724C91-8B07-2464-6155-6433F29CF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7747" y="651996"/>
              <a:ext cx="609600" cy="5334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600" dirty="0"/>
                <a:t>GEN</a:t>
              </a:r>
            </a:p>
          </p:txBody>
        </p:sp>
        <p:grpSp>
          <p:nvGrpSpPr>
            <p:cNvPr id="30" name="Group 5">
              <a:extLst>
                <a:ext uri="{FF2B5EF4-FFF2-40B4-BE49-F238E27FC236}">
                  <a16:creationId xmlns:a16="http://schemas.microsoft.com/office/drawing/2014/main" id="{E55E6DF2-8225-8978-CEB7-BAF913A21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56548" y="712321"/>
              <a:ext cx="2130426" cy="395287"/>
              <a:chOff x="852" y="2751"/>
              <a:chExt cx="1342" cy="249"/>
            </a:xfrm>
          </p:grpSpPr>
          <p:cxnSp>
            <p:nvCxnSpPr>
              <p:cNvPr id="31" name="AutoShape 6">
                <a:extLst>
                  <a:ext uri="{FF2B5EF4-FFF2-40B4-BE49-F238E27FC236}">
                    <a16:creationId xmlns:a16="http://schemas.microsoft.com/office/drawing/2014/main" id="{9EA2C405-344D-5ACB-5642-E14F14DE84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V="1">
                <a:off x="734" y="2880"/>
                <a:ext cx="238" cy="1"/>
              </a:xfrm>
              <a:prstGeom prst="curvedConnector5">
                <a:avLst>
                  <a:gd name="adj1" fmla="val -53366"/>
                  <a:gd name="adj2" fmla="val 47200014"/>
                  <a:gd name="adj3" fmla="val 153778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Text Box 7">
                <a:extLst>
                  <a:ext uri="{FF2B5EF4-FFF2-40B4-BE49-F238E27FC236}">
                    <a16:creationId xmlns:a16="http://schemas.microsoft.com/office/drawing/2014/main" id="{BD96CBFF-652C-11C2-6A7B-0B41041459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7" y="2751"/>
                <a:ext cx="8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1600" dirty="0"/>
                  <a:t>(out, gen-time)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DF3721-DE87-CF20-9542-5C3ED02E4F20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05/32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5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730A-318F-F0F3-C602-1B1FD98C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74319C-5971-E412-BD78-7A75634AC0CD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7492BF-8CB0-72E2-46B8-C478B3BFAFC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EC7C65-2A7E-F27C-7693-9FD69F565567}"/>
                  </a:ext>
                </a:extLst>
              </p:cNvPr>
              <p:cNvSpPr txBox="1"/>
              <p:nvPr/>
            </p:nvSpPr>
            <p:spPr>
              <a:xfrm>
                <a:off x="395286" y="1929861"/>
                <a:ext cx="11730038" cy="4980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역할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대기열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(FIFO queue)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대기 중인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큐와 각 서버의 유휴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/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작업 중 상태를 나타내는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busy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리스트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𝑆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𝑞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𝐽𝑜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𝑏𝑢𝑠𝑦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𝑇𝑟𝑢𝑒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𝐹𝑎𝑙𝑠𝑒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surver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X: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in_job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포트로 들어오는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리스트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각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in_done_i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포트로 들어오는 완료 신호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[True] 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𝑋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𝐽𝑜𝑏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}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Y: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out_job_i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포트로 내보내는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리스트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𝑌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𝐽𝑜𝑏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𝑖𝑛𝑡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q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에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이 있고 유휴 상태인 프로세서가 있을 때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큐에서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제거하고 해당 프로세서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busy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로 만듦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</m:oMath>
                </a14:m>
                <a:endParaRPr lang="en-US" altLang="ko-KR" sz="1400" i="1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𝑆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, [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𝐽𝑜𝑏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])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으로 들어온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들을 큐에 추가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𝑆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𝑇𝑟𝑢𝑒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in_done_i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로 완료 신호가 들어온 프로세서를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busy = False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로 변환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𝑆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𝑞</m:t>
                    </m:r>
                  </m:oMath>
                </a14:m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의 첫 번째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형태로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유휴 상태인 프로세서의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out_job_i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포트로 출력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𝑡𝑎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eqArr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0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, 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만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약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𝑞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에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𝐽𝑜𝑏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이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있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유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휴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상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태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인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프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로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세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서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가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있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을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경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우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∞,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EC7C65-2A7E-F27C-7693-9FD69F565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929861"/>
                <a:ext cx="11730038" cy="4980146"/>
              </a:xfrm>
              <a:prstGeom prst="rect">
                <a:avLst/>
              </a:prstGeom>
              <a:blipFill>
                <a:blip r:embed="rId3"/>
                <a:stretch>
                  <a:fillRect l="-2339" b="-22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5A676C-BBAC-5CD3-7BAB-DFD687549554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[Atomic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Model]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862E6-D798-DC08-00AD-45BFB4732530}"/>
              </a:ext>
            </a:extLst>
          </p:cNvPr>
          <p:cNvSpPr txBox="1"/>
          <p:nvPr/>
        </p:nvSpPr>
        <p:spPr>
          <a:xfrm>
            <a:off x="395286" y="1589751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(2)</a:t>
            </a:r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Buffer (</a:t>
            </a:r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다중 서버 버퍼</a:t>
            </a: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</p:txBody>
      </p:sp>
      <p:grpSp>
        <p:nvGrpSpPr>
          <p:cNvPr id="14" name="Group 71">
            <a:extLst>
              <a:ext uri="{FF2B5EF4-FFF2-40B4-BE49-F238E27FC236}">
                <a16:creationId xmlns:a16="http://schemas.microsoft.com/office/drawing/2014/main" id="{062ADCC3-133E-5307-7D83-3720257CD2B8}"/>
              </a:ext>
            </a:extLst>
          </p:cNvPr>
          <p:cNvGrpSpPr>
            <a:grpSpLocks/>
          </p:cNvGrpSpPr>
          <p:nvPr/>
        </p:nvGrpSpPr>
        <p:grpSpPr bwMode="auto">
          <a:xfrm>
            <a:off x="9567070" y="3227612"/>
            <a:ext cx="2219328" cy="862013"/>
            <a:chOff x="426" y="1800"/>
            <a:chExt cx="1398" cy="543"/>
          </a:xfrm>
        </p:grpSpPr>
        <p:sp>
          <p:nvSpPr>
            <p:cNvPr id="15" name="Rectangle 72">
              <a:extLst>
                <a:ext uri="{FF2B5EF4-FFF2-40B4-BE49-F238E27FC236}">
                  <a16:creationId xmlns:a16="http://schemas.microsoft.com/office/drawing/2014/main" id="{1164A437-B651-2384-EA5A-E3F89C6F0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1865"/>
              <a:ext cx="533" cy="47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397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dirty="0"/>
                <a:t>BUF</a:t>
              </a:r>
            </a:p>
          </p:txBody>
        </p:sp>
        <p:sp>
          <p:nvSpPr>
            <p:cNvPr id="16" name="Line 73">
              <a:extLst>
                <a:ext uri="{FF2B5EF4-FFF2-40B4-BE49-F238E27FC236}">
                  <a16:creationId xmlns:a16="http://schemas.microsoft.com/office/drawing/2014/main" id="{8A65BF25-968F-5C41-0441-51886D11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2" y="2117"/>
              <a:ext cx="482" cy="0"/>
            </a:xfrm>
            <a:prstGeom prst="line">
              <a:avLst/>
            </a:prstGeom>
            <a:noFill/>
            <a:ln w="1397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200" dirty="0"/>
            </a:p>
          </p:txBody>
        </p:sp>
        <p:sp>
          <p:nvSpPr>
            <p:cNvPr id="17" name="Line 74">
              <a:extLst>
                <a:ext uri="{FF2B5EF4-FFF2-40B4-BE49-F238E27FC236}">
                  <a16:creationId xmlns:a16="http://schemas.microsoft.com/office/drawing/2014/main" id="{75831FDC-BA70-42A1-8797-BD564C4138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" y="2003"/>
              <a:ext cx="365" cy="0"/>
            </a:xfrm>
            <a:prstGeom prst="line">
              <a:avLst/>
            </a:prstGeom>
            <a:noFill/>
            <a:ln w="1397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200"/>
            </a:p>
          </p:txBody>
        </p:sp>
        <p:sp>
          <p:nvSpPr>
            <p:cNvPr id="18" name="Line 75">
              <a:extLst>
                <a:ext uri="{FF2B5EF4-FFF2-40B4-BE49-F238E27FC236}">
                  <a16:creationId xmlns:a16="http://schemas.microsoft.com/office/drawing/2014/main" id="{9A405CD9-7146-FE46-D75C-D92D3B4E7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" y="2214"/>
              <a:ext cx="359" cy="0"/>
            </a:xfrm>
            <a:prstGeom prst="line">
              <a:avLst/>
            </a:prstGeom>
            <a:noFill/>
            <a:ln w="1397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200"/>
            </a:p>
          </p:txBody>
        </p:sp>
        <p:sp>
          <p:nvSpPr>
            <p:cNvPr id="19" name="Text Box 76">
              <a:extLst>
                <a:ext uri="{FF2B5EF4-FFF2-40B4-BE49-F238E27FC236}">
                  <a16:creationId xmlns:a16="http://schemas.microsoft.com/office/drawing/2014/main" id="{5CE46860-695F-92C5-E185-F172C2ECF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2" y="1930"/>
              <a:ext cx="43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397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dirty="0" err="1"/>
                <a:t>Out_job</a:t>
              </a:r>
              <a:endParaRPr lang="en-US" altLang="ko-KR" sz="1200" dirty="0"/>
            </a:p>
          </p:txBody>
        </p:sp>
        <p:sp>
          <p:nvSpPr>
            <p:cNvPr id="20" name="Text Box 77">
              <a:extLst>
                <a:ext uri="{FF2B5EF4-FFF2-40B4-BE49-F238E27FC236}">
                  <a16:creationId xmlns:a16="http://schemas.microsoft.com/office/drawing/2014/main" id="{3DA89E2A-6793-F81E-BA14-100D96260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" y="1800"/>
              <a:ext cx="36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397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dirty="0" err="1"/>
                <a:t>in_job</a:t>
              </a:r>
              <a:endParaRPr lang="en-US" altLang="ko-KR" sz="1200" dirty="0"/>
            </a:p>
          </p:txBody>
        </p:sp>
        <p:sp>
          <p:nvSpPr>
            <p:cNvPr id="21" name="Text Box 78">
              <a:extLst>
                <a:ext uri="{FF2B5EF4-FFF2-40B4-BE49-F238E27FC236}">
                  <a16:creationId xmlns:a16="http://schemas.microsoft.com/office/drawing/2014/main" id="{0D14B8A4-FC84-BD73-1131-2B45681BA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2040"/>
              <a:ext cx="42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397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dirty="0" err="1"/>
                <a:t>in_done</a:t>
              </a:r>
              <a:endParaRPr lang="en-US" altLang="ko-KR" sz="12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25382B6-7166-C6D8-1055-3FDABB682E0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06/18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4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677A-0F36-C8B8-10BD-73DF2CB5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DB38B0-3554-9D7F-FD7C-38C4CC45F27F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A9AC2A-1397-7475-29C4-ED3E914FF8F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BEFB33-7F88-51AB-D61B-20661C03BC84}"/>
                  </a:ext>
                </a:extLst>
              </p:cNvPr>
              <p:cNvSpPr txBox="1"/>
              <p:nvPr/>
            </p:nvSpPr>
            <p:spPr>
              <a:xfrm>
                <a:off x="440983" y="1920125"/>
                <a:ext cx="11730038" cy="4307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역할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서버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현재 처리 중인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과 남은 처리 시간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remaining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𝑆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𝐽𝑜𝑏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∈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𝐽𝑜𝑏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객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체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∪ ∅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𝑟𝑒𝑚𝑎𝑖𝑛𝑖𝑛𝑔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≥0) 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X: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in_job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포트로 들어오는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리스트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𝑋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𝐽𝑜𝑏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Y: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버퍼에게 작업 완료를 알리는 출력 신호인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out done([True])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와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collector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에게 처리 완료된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보내는 출력 신호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out job([Job])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𝑌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𝐽𝑜𝑏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}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𝑖𝑛𝑡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S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)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None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으로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,  remaining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∞</m:t>
                    </m:r>
                  </m:oMath>
                </a14:m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으로 설정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받아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할당하고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remaining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시간 계산하여 설정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</m:oMath>
                </a14:m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ta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에 의해 작업이 완료되면 내부 전이 직전에 호출</a:t>
                </a:r>
                <a:endParaRPr lang="en-US" altLang="ko-KR" sz="1400" i="1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𝜆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𝑆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𝑠𝑒𝑙𝑓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.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𝑜𝑢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𝑑𝑜𝑛𝑒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𝑇𝑟𝑢𝑒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,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𝑠𝑒𝑙𝑓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.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𝑜𝑢𝑡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𝑗𝑜𝑏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𝑠𝑒𝑙𝑓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.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𝑗𝑜𝑏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}</m:t>
                      </m:r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𝑡𝑎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eqArr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𝑟𝑒𝑚𝑎𝑖𝑛𝑖𝑛𝑔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𝑖𝑓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𝑗𝑜𝑏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!=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𝑁𝑜𝑛𝑒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∞,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BEFB33-7F88-51AB-D61B-20661C03B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83" y="1920125"/>
                <a:ext cx="11730038" cy="4307974"/>
              </a:xfrm>
              <a:prstGeom prst="rect">
                <a:avLst/>
              </a:prstGeom>
              <a:blipFill>
                <a:blip r:embed="rId3"/>
                <a:stretch>
                  <a:fillRect l="-2286" b="-34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729327F-36A5-F319-3531-3A6A331DA719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[Atomic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Model]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93584-F557-8309-178C-9642F7E29881}"/>
              </a:ext>
            </a:extLst>
          </p:cNvPr>
          <p:cNvSpPr txBox="1"/>
          <p:nvPr/>
        </p:nvSpPr>
        <p:spPr>
          <a:xfrm>
            <a:off x="395286" y="1589751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(3)</a:t>
            </a:r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F65E6E-0032-5760-6A04-269EBC99197D}"/>
                  </a:ext>
                </a:extLst>
              </p:cNvPr>
              <p:cNvSpPr txBox="1"/>
              <p:nvPr/>
            </p:nvSpPr>
            <p:spPr>
              <a:xfrm>
                <a:off x="10187783" y="6082350"/>
                <a:ext cx="2119314" cy="380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𝑅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solidFill>
                      <a:schemeClr val="bg2">
                        <a:lumMod val="75000"/>
                      </a:scheme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실수의 집합</a:t>
                </a:r>
                <a:endParaRPr lang="en-US" altLang="ko-KR" sz="1400" dirty="0">
                  <a:solidFill>
                    <a:schemeClr val="bg2">
                      <a:lumMod val="7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F65E6E-0032-5760-6A04-269EBC991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783" y="6082350"/>
                <a:ext cx="2119314" cy="380873"/>
              </a:xfrm>
              <a:prstGeom prst="rect">
                <a:avLst/>
              </a:prstGeom>
              <a:blipFill>
                <a:blip r:embed="rId4"/>
                <a:stretch>
                  <a:fillRect l="-862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492CE8C3-97CE-88A2-7E35-BF1AD1A73EBD}"/>
              </a:ext>
            </a:extLst>
          </p:cNvPr>
          <p:cNvGrpSpPr/>
          <p:nvPr/>
        </p:nvGrpSpPr>
        <p:grpSpPr>
          <a:xfrm>
            <a:off x="9260841" y="2348891"/>
            <a:ext cx="2627317" cy="928688"/>
            <a:chOff x="9260841" y="2348891"/>
            <a:chExt cx="2627317" cy="928688"/>
          </a:xfrm>
        </p:grpSpPr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A96B412D-F771-59EC-7803-E7C9363960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60841" y="2348891"/>
              <a:ext cx="2627317" cy="928688"/>
              <a:chOff x="364" y="1758"/>
              <a:chExt cx="1655" cy="585"/>
            </a:xfrm>
          </p:grpSpPr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F6331016-4C04-EA12-D3A6-22E0B9C0F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" y="1865"/>
                <a:ext cx="533" cy="47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397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600" dirty="0"/>
                  <a:t>PROC</a:t>
                </a:r>
              </a:p>
            </p:txBody>
          </p:sp>
          <p:sp>
            <p:nvSpPr>
              <p:cNvPr id="9" name="Line 13">
                <a:extLst>
                  <a:ext uri="{FF2B5EF4-FFF2-40B4-BE49-F238E27FC236}">
                    <a16:creationId xmlns:a16="http://schemas.microsoft.com/office/drawing/2014/main" id="{9D3FD606-58FB-2082-2350-A9AECF8A7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2" y="1989"/>
                <a:ext cx="677" cy="0"/>
              </a:xfrm>
              <a:prstGeom prst="line">
                <a:avLst/>
              </a:prstGeom>
              <a:noFill/>
              <a:ln w="1397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 sz="1600"/>
              </a:p>
            </p:txBody>
          </p:sp>
          <p:sp>
            <p:nvSpPr>
              <p:cNvPr id="10" name="Line 14">
                <a:extLst>
                  <a:ext uri="{FF2B5EF4-FFF2-40B4-BE49-F238E27FC236}">
                    <a16:creationId xmlns:a16="http://schemas.microsoft.com/office/drawing/2014/main" id="{13C89E84-3486-4B71-B1B7-9BEB44F2B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" y="2091"/>
                <a:ext cx="459" cy="2"/>
              </a:xfrm>
              <a:prstGeom prst="line">
                <a:avLst/>
              </a:prstGeom>
              <a:noFill/>
              <a:ln w="1397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 sz="1600"/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19065A82-9361-93B2-241B-3EAF260D3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2" y="1758"/>
                <a:ext cx="62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600" dirty="0" err="1"/>
                  <a:t>Out_done</a:t>
                </a:r>
                <a:endParaRPr lang="en-US" altLang="ko-KR" sz="1600" dirty="0"/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C96F42C4-C26C-FEF6-064E-BB5AC2BC3C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" y="1891"/>
                <a:ext cx="4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600" dirty="0" err="1"/>
                  <a:t>in_job</a:t>
                </a:r>
                <a:endParaRPr lang="en-US" altLang="ko-KR" sz="1600" dirty="0"/>
              </a:p>
            </p:txBody>
          </p:sp>
        </p:grpSp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A06F131B-5FAA-3F5E-B48F-73CC6A095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3419" y="2765292"/>
              <a:ext cx="85792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397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600" dirty="0" err="1"/>
                <a:t>Out_job</a:t>
              </a:r>
              <a:endParaRPr lang="en-US" altLang="ko-KR" sz="1600" dirty="0"/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239BB4C6-C165-6E03-C943-CAD2A17E5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94708" y="3107935"/>
              <a:ext cx="1074739" cy="0"/>
            </a:xfrm>
            <a:prstGeom prst="line">
              <a:avLst/>
            </a:prstGeom>
            <a:noFill/>
            <a:ln w="1397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6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30A3579-AF2E-E608-B235-D34BCC756D2C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07/32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38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A5DC-8DEF-2D82-0097-8DC9A603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798E8C-85BF-5A94-0BB3-78165A433AEB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D31F78-61E6-5A93-EB80-B1C52D15147B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F09A30-479C-1C03-DD68-4A2B7B046049}"/>
                  </a:ext>
                </a:extLst>
              </p:cNvPr>
              <p:cNvSpPr txBox="1"/>
              <p:nvPr/>
            </p:nvSpPr>
            <p:spPr>
              <a:xfrm>
                <a:off x="440983" y="1920125"/>
                <a:ext cx="11730038" cy="3289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역할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성능 지표 집계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완료된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의 개수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(n),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총 체류시간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sum_time_in_system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현재 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(now),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총 대기시간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sum_queueing_time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첫 번째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이 완료된 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first_time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),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마지막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이 완료된 시간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last_time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X: </a:t>
                </a: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in_event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포트로 들어오는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[Job]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리스트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𝑋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={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𝐽𝑜𝑏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Y: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해당 없음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𝑖𝑛𝑡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: </m:t>
                    </m:r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해당 없음</a:t>
                </a:r>
                <a:r>
                  <a:rPr lang="en-US" altLang="ko-KR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.</a:t>
                </a:r>
                <a:endParaRPr lang="en-US" altLang="ko-KR" sz="1400" i="1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:[Job] </a:t>
                </a:r>
                <a:r>
                  <a:rPr lang="ko-KR" altLang="en-US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리스트를 받아</a:t>
                </a:r>
                <a:r>
                  <a:rPr lang="en-US" altLang="ko-KR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리스트 내의 각 </a:t>
                </a:r>
                <a:r>
                  <a:rPr lang="en-US" altLang="ko-KR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Cambria Math" panose="02040503050406030204" pitchFamily="18" charset="0"/>
                    <a:ea typeface="Noto Sans CJK KR Medium" panose="020B0600000000000000" pitchFamily="34" charset="-127"/>
                  </a:rPr>
                  <a:t>의 체류 시간 등을 계산하고 상태 변수 업데이트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</m:oMath>
                </a14:m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해</a:t>
                </a:r>
                <a14:m>
                  <m:oMath xmlns:m="http://schemas.openxmlformats.org/officeDocument/2006/math">
                    <m:r>
                      <a:rPr lang="ko-KR" altLang="en-US" sz="1400" i="1" dirty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당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없</m:t>
                    </m:r>
                    <m:r>
                      <a:rPr lang="ko-KR" altLang="en-US" sz="1400" i="1" dirty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음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.</m:t>
                    </m:r>
                  </m:oMath>
                </a14:m>
                <a:endParaRPr lang="en-US" altLang="ko-KR" sz="1400" b="0" i="1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F09A30-479C-1C03-DD68-4A2B7B046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83" y="1920125"/>
                <a:ext cx="11730038" cy="3289362"/>
              </a:xfrm>
              <a:prstGeom prst="rect">
                <a:avLst/>
              </a:prstGeom>
              <a:blipFill>
                <a:blip r:embed="rId3"/>
                <a:stretch>
                  <a:fillRect l="-52" r="-104" b="-3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56EC271-E5EA-BD09-C60D-4A2B9D3F60AF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[Atomic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Model]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0DD93-DB97-43B4-4341-D849CE24847F}"/>
              </a:ext>
            </a:extLst>
          </p:cNvPr>
          <p:cNvSpPr txBox="1"/>
          <p:nvPr/>
        </p:nvSpPr>
        <p:spPr>
          <a:xfrm>
            <a:off x="395286" y="1589751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(4)</a:t>
            </a:r>
            <a:r>
              <a:rPr lang="ko-KR" alt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en-US" altLang="ko-KR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Collector</a:t>
            </a:r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E2DB9AEF-C7AF-EA0C-7DFA-F277A7A8912B}"/>
              </a:ext>
            </a:extLst>
          </p:cNvPr>
          <p:cNvGrpSpPr>
            <a:grpSpLocks/>
          </p:cNvGrpSpPr>
          <p:nvPr/>
        </p:nvGrpSpPr>
        <p:grpSpPr bwMode="auto">
          <a:xfrm>
            <a:off x="9229726" y="3322975"/>
            <a:ext cx="1666878" cy="758825"/>
            <a:chOff x="306" y="1853"/>
            <a:chExt cx="1050" cy="478"/>
          </a:xfrm>
        </p:grpSpPr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C33786BB-BFE0-83A6-3E5F-C012D1E31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53"/>
              <a:ext cx="533" cy="47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397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600" dirty="0"/>
                <a:t>COLL</a:t>
              </a: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A7BBF626-55A5-FE67-CEEE-2DCCE030F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" y="2091"/>
              <a:ext cx="459" cy="2"/>
            </a:xfrm>
            <a:prstGeom prst="line">
              <a:avLst/>
            </a:prstGeom>
            <a:noFill/>
            <a:ln w="1397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8D6BE5FF-3DAD-59DA-8DA7-37A8C1A1A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1891"/>
              <a:ext cx="56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397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Monotype Sorts" pitchFamily="2" charset="2"/>
                <a:buChar char="u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Wingdings" panose="05000000000000000000" pitchFamily="2" charset="2"/>
                <a:buChar char="v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2pPr>
              <a:lvl3pPr marL="1143000" indent="-228600" latinLnBrk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1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defRPr>
              </a:lvl3pPr>
              <a:lvl4pPr marL="1600200" indent="-228600" latinLnBrk="1">
                <a:spcBef>
                  <a:spcPct val="20000"/>
                </a:spcBef>
                <a:buFont typeface="Wingdings" panose="05000000000000000000" pitchFamily="2" charset="2"/>
                <a:buChar char="l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600" dirty="0" err="1"/>
                <a:t>in_event</a:t>
              </a:r>
              <a:endParaRPr lang="en-US" altLang="ko-KR" sz="16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C63014-305C-D99A-912A-5E76235B0346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08/32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91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20F6-856F-91E6-3362-ECFC6508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CDBDD1-21A0-7C50-F9B3-107624C0FF53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02. GBP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예제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GBP.py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D0E332-6002-0522-95BB-4D2DC4678EA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AD44F-E45C-5788-62D3-49B7FA14AE72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[Coupled Model]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39357-01B2-A765-45D8-9F5BCEBE2DEF}"/>
              </a:ext>
            </a:extLst>
          </p:cNvPr>
          <p:cNvSpPr txBox="1"/>
          <p:nvPr/>
        </p:nvSpPr>
        <p:spPr>
          <a:xfrm>
            <a:off x="395286" y="16164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가지 컴포넌트를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CoupledDEVS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 연결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Servers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개수에 따라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Processor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여러 개 생성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8A11A34F-0F31-A39E-06B4-5E1B1884524E}"/>
              </a:ext>
            </a:extLst>
          </p:cNvPr>
          <p:cNvGrpSpPr/>
          <p:nvPr/>
        </p:nvGrpSpPr>
        <p:grpSpPr>
          <a:xfrm>
            <a:off x="525981" y="2485628"/>
            <a:ext cx="11468648" cy="3908064"/>
            <a:chOff x="254000" y="2320847"/>
            <a:chExt cx="11468648" cy="3908064"/>
          </a:xfrm>
        </p:grpSpPr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B3CD44F1-4C1D-2948-A5BF-520715128C85}"/>
                </a:ext>
              </a:extLst>
            </p:cNvPr>
            <p:cNvGrpSpPr/>
            <p:nvPr/>
          </p:nvGrpSpPr>
          <p:grpSpPr>
            <a:xfrm>
              <a:off x="469352" y="2455182"/>
              <a:ext cx="11041265" cy="3621329"/>
              <a:chOff x="469352" y="2455182"/>
              <a:chExt cx="11041265" cy="362132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C2EB6458-04FE-B6DF-8D15-98FF3CEF1EE0}"/>
                  </a:ext>
                </a:extLst>
              </p:cNvPr>
              <p:cNvSpPr/>
              <p:nvPr/>
            </p:nvSpPr>
            <p:spPr>
              <a:xfrm>
                <a:off x="655678" y="3629993"/>
                <a:ext cx="1069976" cy="3812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GEN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7FCDD305-315D-FE8D-10F9-C43613A95B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5654" y="3721410"/>
                <a:ext cx="45085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 Box 77">
                <a:extLst>
                  <a:ext uri="{FF2B5EF4-FFF2-40B4-BE49-F238E27FC236}">
                    <a16:creationId xmlns:a16="http://schemas.microsoft.com/office/drawing/2014/main" id="{5DDE763E-6727-F00F-257A-0A2343B29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654" y="3453476"/>
                <a:ext cx="381836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out</a:t>
                </a:r>
              </a:p>
            </p:txBody>
          </p: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99F56A1E-2C42-8510-84B1-77516DBC0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490" y="3721410"/>
                <a:ext cx="45085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77">
                <a:extLst>
                  <a:ext uri="{FF2B5EF4-FFF2-40B4-BE49-F238E27FC236}">
                    <a16:creationId xmlns:a16="http://schemas.microsoft.com/office/drawing/2014/main" id="{32C3ECEC-0E63-8A57-6162-7031DCCAC6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0469" y="3453476"/>
                <a:ext cx="304892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in</a:t>
                </a:r>
              </a:p>
            </p:txBody>
          </p:sp>
          <p:sp>
            <p:nvSpPr>
              <p:cNvPr id="33" name="Text Box 77">
                <a:extLst>
                  <a:ext uri="{FF2B5EF4-FFF2-40B4-BE49-F238E27FC236}">
                    <a16:creationId xmlns:a16="http://schemas.microsoft.com/office/drawing/2014/main" id="{6D192EBE-ECFF-48DE-6072-8771F9336A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1876" y="3453476"/>
                <a:ext cx="76819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in_job</a:t>
                </a:r>
                <a:endParaRPr lang="en-US" altLang="ko-KR" sz="1200" dirty="0"/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DA7CB67F-3B96-50CB-9303-A7A679286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5361" y="3721410"/>
                <a:ext cx="854706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6D20440C-E54B-C5F4-C4F7-1190A5B1E41B}"/>
                  </a:ext>
                </a:extLst>
              </p:cNvPr>
              <p:cNvSpPr/>
              <p:nvPr/>
            </p:nvSpPr>
            <p:spPr>
              <a:xfrm>
                <a:off x="3340067" y="3629993"/>
                <a:ext cx="1069976" cy="3812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BUF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AC1F1B25-056F-B01D-857A-2BF7506E5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043" y="3697144"/>
                <a:ext cx="854706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 Box 77">
                <a:extLst>
                  <a:ext uri="{FF2B5EF4-FFF2-40B4-BE49-F238E27FC236}">
                    <a16:creationId xmlns:a16="http://schemas.microsoft.com/office/drawing/2014/main" id="{FE6073C2-50DA-4E8D-DA4C-4392DE8775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5349" y="3418874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out_job_0</a:t>
                </a:r>
              </a:p>
            </p:txBody>
          </p:sp>
          <p:sp>
            <p:nvSpPr>
              <p:cNvPr id="42" name="Text Box 77">
                <a:extLst>
                  <a:ext uri="{FF2B5EF4-FFF2-40B4-BE49-F238E27FC236}">
                    <a16:creationId xmlns:a16="http://schemas.microsoft.com/office/drawing/2014/main" id="{B6509D53-071D-9488-5D6E-C6BD0243C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7393" y="3695292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out_job_1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3BC8C4D8-F81C-4DDC-F739-4E6B0627904B}"/>
                  </a:ext>
                </a:extLst>
              </p:cNvPr>
              <p:cNvSpPr/>
              <p:nvPr/>
            </p:nvSpPr>
            <p:spPr>
              <a:xfrm>
                <a:off x="6096555" y="3527794"/>
                <a:ext cx="1069976" cy="3812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PROC 0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9F4BD2CE-FCFA-3900-7B4A-4648111F0B62}"/>
                  </a:ext>
                </a:extLst>
              </p:cNvPr>
              <p:cNvSpPr/>
              <p:nvPr/>
            </p:nvSpPr>
            <p:spPr>
              <a:xfrm>
                <a:off x="6094526" y="4036066"/>
                <a:ext cx="1069976" cy="3812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PROC 1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 Box 77">
                <a:extLst>
                  <a:ext uri="{FF2B5EF4-FFF2-40B4-BE49-F238E27FC236}">
                    <a16:creationId xmlns:a16="http://schemas.microsoft.com/office/drawing/2014/main" id="{E8FABE8A-657B-57A7-7CA0-7765F2161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5350" y="3424858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in_job</a:t>
                </a:r>
                <a:endParaRPr lang="en-US" altLang="ko-KR" sz="1200" dirty="0"/>
              </a:p>
            </p:txBody>
          </p:sp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EC153874-22C6-72F0-40F1-4371DD91C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1849" y="3699522"/>
                <a:ext cx="854706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연결선: 꺾임 51">
                <a:extLst>
                  <a:ext uri="{FF2B5EF4-FFF2-40B4-BE49-F238E27FC236}">
                    <a16:creationId xmlns:a16="http://schemas.microsoft.com/office/drawing/2014/main" id="{C80A4619-EEDB-37F4-A07A-B867AC6BEB0F}"/>
                  </a:ext>
                </a:extLst>
              </p:cNvPr>
              <p:cNvCxnSpPr>
                <a:cxnSpLocks/>
                <a:endCxn id="46" idx="1"/>
              </p:cNvCxnSpPr>
              <p:nvPr/>
            </p:nvCxnSpPr>
            <p:spPr>
              <a:xfrm>
                <a:off x="4410043" y="3954151"/>
                <a:ext cx="1684483" cy="272544"/>
              </a:xfrm>
              <a:prstGeom prst="bentConnector3">
                <a:avLst>
                  <a:gd name="adj1" fmla="val 50000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8D7FF40C-BEDE-BCFB-85FD-A08EFCDA8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043" y="3950693"/>
                <a:ext cx="854706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Text Box 77">
                <a:extLst>
                  <a:ext uri="{FF2B5EF4-FFF2-40B4-BE49-F238E27FC236}">
                    <a16:creationId xmlns:a16="http://schemas.microsoft.com/office/drawing/2014/main" id="{611A5C98-C30C-58D5-F61B-212DBA322E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4980" y="3959121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in_job</a:t>
                </a:r>
                <a:endParaRPr lang="en-US" altLang="ko-KR" sz="1200" dirty="0"/>
              </a:p>
            </p:txBody>
          </p:sp>
          <p:cxnSp>
            <p:nvCxnSpPr>
              <p:cNvPr id="73" name="연결선: 꺾임 72">
                <a:extLst>
                  <a:ext uri="{FF2B5EF4-FFF2-40B4-BE49-F238E27FC236}">
                    <a16:creationId xmlns:a16="http://schemas.microsoft.com/office/drawing/2014/main" id="{0F5426C6-F5B2-C237-48A5-99DB46012A13}"/>
                  </a:ext>
                </a:extLst>
              </p:cNvPr>
              <p:cNvCxnSpPr>
                <a:cxnSpLocks/>
                <a:stCxn id="45" idx="3"/>
                <a:endCxn id="37" idx="1"/>
              </p:cNvCxnSpPr>
              <p:nvPr/>
            </p:nvCxnSpPr>
            <p:spPr>
              <a:xfrm flipH="1">
                <a:off x="3340067" y="3718423"/>
                <a:ext cx="3826464" cy="102199"/>
              </a:xfrm>
              <a:prstGeom prst="bentConnector5">
                <a:avLst>
                  <a:gd name="adj1" fmla="val -28543"/>
                  <a:gd name="adj2" fmla="val 1714049"/>
                  <a:gd name="adj3" fmla="val 116802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연결선: 꺾임 76">
                <a:extLst>
                  <a:ext uri="{FF2B5EF4-FFF2-40B4-BE49-F238E27FC236}">
                    <a16:creationId xmlns:a16="http://schemas.microsoft.com/office/drawing/2014/main" id="{6EB2837E-C0EF-E4A9-CBC2-4DB0B7135477}"/>
                  </a:ext>
                </a:extLst>
              </p:cNvPr>
              <p:cNvCxnSpPr>
                <a:cxnSpLocks/>
                <a:stCxn id="46" idx="3"/>
                <a:endCxn id="37" idx="1"/>
              </p:cNvCxnSpPr>
              <p:nvPr/>
            </p:nvCxnSpPr>
            <p:spPr>
              <a:xfrm flipH="1" flipV="1">
                <a:off x="3340067" y="3820622"/>
                <a:ext cx="3824435" cy="406073"/>
              </a:xfrm>
              <a:prstGeom prst="bentConnector5">
                <a:avLst>
                  <a:gd name="adj1" fmla="val -18264"/>
                  <a:gd name="adj2" fmla="val -212712"/>
                  <a:gd name="adj3" fmla="val 110273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 Box 77">
                <a:extLst>
                  <a:ext uri="{FF2B5EF4-FFF2-40B4-BE49-F238E27FC236}">
                    <a16:creationId xmlns:a16="http://schemas.microsoft.com/office/drawing/2014/main" id="{F5C20626-9697-2C6C-5026-B06D2E7C28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1468" y="5147498"/>
                <a:ext cx="104163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out_done_0</a:t>
                </a:r>
              </a:p>
            </p:txBody>
          </p:sp>
          <p:sp>
            <p:nvSpPr>
              <p:cNvPr id="91" name="Text Box 77">
                <a:extLst>
                  <a:ext uri="{FF2B5EF4-FFF2-40B4-BE49-F238E27FC236}">
                    <a16:creationId xmlns:a16="http://schemas.microsoft.com/office/drawing/2014/main" id="{21EE31C5-C7A0-BCDD-CC0B-EC4EFB0C1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0313" y="4785129"/>
                <a:ext cx="104163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/>
                  <a:t>out_done_1</a:t>
                </a:r>
              </a:p>
            </p:txBody>
          </p: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741FB0B7-FCF8-0774-93A4-BDA23ED6D785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>
                <a:off x="7166531" y="3718423"/>
                <a:ext cx="1952069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5D9683B5-948C-BB68-6BEE-CB2534922E98}"/>
                  </a:ext>
                </a:extLst>
              </p:cNvPr>
              <p:cNvSpPr/>
              <p:nvPr/>
            </p:nvSpPr>
            <p:spPr>
              <a:xfrm>
                <a:off x="10440641" y="3630961"/>
                <a:ext cx="1069976" cy="3812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COLL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Text Box 77">
                <a:extLst>
                  <a:ext uri="{FF2B5EF4-FFF2-40B4-BE49-F238E27FC236}">
                    <a16:creationId xmlns:a16="http://schemas.microsoft.com/office/drawing/2014/main" id="{04F22EE0-8018-C097-EEAE-CCD6BBA25D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3857" y="3441424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out_job</a:t>
                </a:r>
                <a:endParaRPr lang="en-US" altLang="ko-KR" sz="1200" dirty="0"/>
              </a:p>
            </p:txBody>
          </p: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A865958D-8790-1B89-7DEE-1DF6449BBE15}"/>
                  </a:ext>
                </a:extLst>
              </p:cNvPr>
              <p:cNvGrpSpPr/>
              <p:nvPr/>
            </p:nvGrpSpPr>
            <p:grpSpPr>
              <a:xfrm>
                <a:off x="6591653" y="4509673"/>
                <a:ext cx="75721" cy="337755"/>
                <a:chOff x="7897099" y="698164"/>
                <a:chExt cx="75721" cy="337755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21421A62-23B6-F9FD-44CF-70D70BC273DF}"/>
                    </a:ext>
                  </a:extLst>
                </p:cNvPr>
                <p:cNvSpPr/>
                <p:nvPr/>
              </p:nvSpPr>
              <p:spPr>
                <a:xfrm>
                  <a:off x="7897099" y="698164"/>
                  <a:ext cx="75721" cy="69835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>
                    <a:latin typeface="Noto Sans CJK KR Medium" panose="020B0600000101010101" charset="-127"/>
                    <a:ea typeface="Noto Sans CJK KR Medium" panose="020B0600000101010101" charset="-127"/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31B44C82-7AD8-C43C-5381-69B39A4B14B7}"/>
                    </a:ext>
                  </a:extLst>
                </p:cNvPr>
                <p:cNvSpPr/>
                <p:nvPr/>
              </p:nvSpPr>
              <p:spPr>
                <a:xfrm>
                  <a:off x="7897099" y="829350"/>
                  <a:ext cx="75721" cy="69835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>
                    <a:latin typeface="Noto Sans CJK KR Medium" panose="020B0600000101010101" charset="-127"/>
                    <a:ea typeface="Noto Sans CJK KR Medium" panose="020B0600000101010101" charset="-127"/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3EB95E7B-345C-B668-B27B-0AD0297CFCC5}"/>
                    </a:ext>
                  </a:extLst>
                </p:cNvPr>
                <p:cNvSpPr/>
                <p:nvPr/>
              </p:nvSpPr>
              <p:spPr>
                <a:xfrm>
                  <a:off x="7897099" y="966084"/>
                  <a:ext cx="75721" cy="69835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>
                    <a:latin typeface="Noto Sans CJK KR Medium" panose="020B0600000101010101" charset="-127"/>
                    <a:ea typeface="Noto Sans CJK KR Medium" panose="020B0600000101010101" charset="-127"/>
                  </a:endParaRPr>
                </a:p>
              </p:txBody>
            </p:sp>
          </p:grpSp>
          <p:cxnSp>
            <p:nvCxnSpPr>
              <p:cNvPr id="119" name="연결선: 꺾임 118">
                <a:extLst>
                  <a:ext uri="{FF2B5EF4-FFF2-40B4-BE49-F238E27FC236}">
                    <a16:creationId xmlns:a16="http://schemas.microsoft.com/office/drawing/2014/main" id="{43D9B7F7-4823-8AB3-C159-3BFD73742700}"/>
                  </a:ext>
                </a:extLst>
              </p:cNvPr>
              <p:cNvCxnSpPr>
                <a:cxnSpLocks/>
                <a:stCxn id="46" idx="3"/>
              </p:cNvCxnSpPr>
              <p:nvPr/>
            </p:nvCxnSpPr>
            <p:spPr>
              <a:xfrm flipV="1">
                <a:off x="7164502" y="3924548"/>
                <a:ext cx="1954098" cy="302147"/>
              </a:xfrm>
              <a:prstGeom prst="bentConnector3">
                <a:avLst>
                  <a:gd name="adj1" fmla="val 44882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2" name="Text Box 77">
                <a:extLst>
                  <a:ext uri="{FF2B5EF4-FFF2-40B4-BE49-F238E27FC236}">
                    <a16:creationId xmlns:a16="http://schemas.microsoft.com/office/drawing/2014/main" id="{E68D0027-B82F-DCBC-8FE7-C2A1D7DA2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3857" y="3675238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out_job</a:t>
                </a:r>
                <a:endParaRPr lang="en-US" altLang="ko-KR" sz="1200" dirty="0"/>
              </a:p>
            </p:txBody>
          </p:sp>
          <p:cxnSp>
            <p:nvCxnSpPr>
              <p:cNvPr id="123" name="직선 화살표 연결선 122">
                <a:extLst>
                  <a:ext uri="{FF2B5EF4-FFF2-40B4-BE49-F238E27FC236}">
                    <a16:creationId xmlns:a16="http://schemas.microsoft.com/office/drawing/2014/main" id="{23D96D95-38AF-78B4-C346-6E4F3C608CE6}"/>
                  </a:ext>
                </a:extLst>
              </p:cNvPr>
              <p:cNvCxnSpPr>
                <a:cxnSpLocks/>
                <a:endCxn id="105" idx="1"/>
              </p:cNvCxnSpPr>
              <p:nvPr/>
            </p:nvCxnSpPr>
            <p:spPr>
              <a:xfrm>
                <a:off x="9710911" y="3821590"/>
                <a:ext cx="72973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Text Box 77">
                <a:extLst>
                  <a:ext uri="{FF2B5EF4-FFF2-40B4-BE49-F238E27FC236}">
                    <a16:creationId xmlns:a16="http://schemas.microsoft.com/office/drawing/2014/main" id="{C3AC8963-BA56-D641-186D-FD03DDF0E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10487" y="3600483"/>
                <a:ext cx="871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397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Monotype Sorts" pitchFamily="2" charset="2"/>
                  <a:buChar char="u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2pPr>
                <a:lvl3pPr marL="11430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kumimoji="1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  <a:sym typeface="Symbol" panose="05050102010706020507" pitchFamily="18" charset="2"/>
                  </a:defRPr>
                </a:lvl3pPr>
                <a:lvl4pPr marL="16002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ko-KR" sz="1200" dirty="0" err="1"/>
                  <a:t>in_event</a:t>
                </a:r>
                <a:endParaRPr lang="en-US" altLang="ko-KR" sz="1200" dirty="0"/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A646B649-EB6B-CCBF-9C2C-28DFDB62F3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2019" y="3718733"/>
                <a:ext cx="538105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D3E255AB-E6D6-357A-FCE5-1E0CBC47AC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2019" y="3928283"/>
                <a:ext cx="538105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13144C73-7340-196B-FC9D-E758B75DA1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07436" y="3716042"/>
                <a:ext cx="0" cy="21871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23118FB2-BD9B-CF67-84BA-C78CA0B15B85}"/>
                  </a:ext>
                </a:extLst>
              </p:cNvPr>
              <p:cNvSpPr/>
              <p:nvPr/>
            </p:nvSpPr>
            <p:spPr>
              <a:xfrm>
                <a:off x="2548954" y="3274617"/>
                <a:ext cx="6569617" cy="252133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AE7F39E0-1120-D717-D00C-A3EC7F5FB4A6}"/>
                  </a:ext>
                </a:extLst>
              </p:cNvPr>
              <p:cNvSpPr/>
              <p:nvPr/>
            </p:nvSpPr>
            <p:spPr>
              <a:xfrm>
                <a:off x="2773076" y="3078884"/>
                <a:ext cx="1069976" cy="38125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BUF - PROC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9EFBEE0B-A187-1754-4954-3022F5707786}"/>
                  </a:ext>
                </a:extLst>
              </p:cNvPr>
              <p:cNvSpPr/>
              <p:nvPr/>
            </p:nvSpPr>
            <p:spPr>
              <a:xfrm>
                <a:off x="469352" y="2699449"/>
                <a:ext cx="9196096" cy="337706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D4E58511-D7A5-CF37-ADE8-A03D8F3038BB}"/>
                  </a:ext>
                </a:extLst>
              </p:cNvPr>
              <p:cNvSpPr/>
              <p:nvPr/>
            </p:nvSpPr>
            <p:spPr>
              <a:xfrm>
                <a:off x="655678" y="2455182"/>
                <a:ext cx="2117398" cy="38125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Noto Sans CJK KR Medium" panose="020B0600000101010101" charset="-127"/>
                    <a:cs typeface="Times New Roman" panose="02020603050405020304" pitchFamily="18" charset="0"/>
                  </a:rPr>
                  <a:t>GEN - BUF - PROC</a:t>
                </a:r>
                <a:endParaRPr lang="ko-KR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Noto Sans CJK KR Medium" panose="020B0600000101010101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5D69DF9E-9E85-0371-E307-9F183EA27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3171" y="3719688"/>
              <a:ext cx="58886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0A1A057F-E9C5-DA14-C689-903DE6F7A118}"/>
                </a:ext>
              </a:extLst>
            </p:cNvPr>
            <p:cNvCxnSpPr>
              <a:cxnSpLocks/>
            </p:cNvCxnSpPr>
            <p:nvPr/>
          </p:nvCxnSpPr>
          <p:spPr>
            <a:xfrm>
              <a:off x="9617341" y="3932697"/>
              <a:ext cx="90095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7C7CB55-A008-AE40-C6AA-55570E7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9617341" y="3721410"/>
              <a:ext cx="90095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90D7E5A1-6954-A212-C60D-64DDAFDF0A04}"/>
                </a:ext>
              </a:extLst>
            </p:cNvPr>
            <p:cNvSpPr/>
            <p:nvPr/>
          </p:nvSpPr>
          <p:spPr>
            <a:xfrm>
              <a:off x="254000" y="2320847"/>
              <a:ext cx="11468648" cy="39080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CJK KR Medium" panose="020B0600000101010101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6" name="Text Box 77">
            <a:extLst>
              <a:ext uri="{FF2B5EF4-FFF2-40B4-BE49-F238E27FC236}">
                <a16:creationId xmlns:a16="http://schemas.microsoft.com/office/drawing/2014/main" id="{9642489B-683F-D248-7C8E-CFDEE85C8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243" y="3624923"/>
            <a:ext cx="8712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Monotype Sorts" pitchFamily="2" charset="2"/>
              <a:buChar char="u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Wingdings" panose="05000000000000000000" pitchFamily="2" charset="2"/>
              <a:buChar char="v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defRPr>
            </a:lvl2pPr>
            <a:lvl3pPr marL="1143000" indent="-228600" latinLnBrk="1">
              <a:spcBef>
                <a:spcPct val="20000"/>
              </a:spcBef>
              <a:buFont typeface="Wingdings" panose="05000000000000000000" pitchFamily="2" charset="2"/>
              <a:buChar char="§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defRPr>
            </a:lvl3pPr>
            <a:lvl4pPr marL="1600200" indent="-228600" latinLnBrk="1">
              <a:spcBef>
                <a:spcPct val="20000"/>
              </a:spcBef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1200" dirty="0" err="1"/>
              <a:t>out_job</a:t>
            </a:r>
            <a:endParaRPr lang="en-US" altLang="ko-KR" sz="1200" dirty="0"/>
          </a:p>
        </p:txBody>
      </p:sp>
      <p:sp>
        <p:nvSpPr>
          <p:cNvPr id="177" name="Text Box 77">
            <a:extLst>
              <a:ext uri="{FF2B5EF4-FFF2-40B4-BE49-F238E27FC236}">
                <a16:creationId xmlns:a16="http://schemas.microsoft.com/office/drawing/2014/main" id="{DED91DC8-158C-C3DD-1184-A21E1274F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243" y="3858737"/>
            <a:ext cx="8712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Monotype Sorts" pitchFamily="2" charset="2"/>
              <a:buChar char="u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Wingdings" panose="05000000000000000000" pitchFamily="2" charset="2"/>
              <a:buChar char="v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defRPr>
            </a:lvl2pPr>
            <a:lvl3pPr marL="1143000" indent="-228600" latinLnBrk="1">
              <a:spcBef>
                <a:spcPct val="20000"/>
              </a:spcBef>
              <a:buFont typeface="Wingdings" panose="05000000000000000000" pitchFamily="2" charset="2"/>
              <a:buChar char="§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defRPr>
            </a:lvl3pPr>
            <a:lvl4pPr marL="1600200" indent="-228600" latinLnBrk="1">
              <a:spcBef>
                <a:spcPct val="20000"/>
              </a:spcBef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1200" dirty="0" err="1"/>
              <a:t>out_job</a:t>
            </a:r>
            <a:endParaRPr lang="en-US" altLang="ko-KR" sz="1200" dirty="0"/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8AF24014-8D6A-7C73-4CDA-A7396B58632C}"/>
              </a:ext>
            </a:extLst>
          </p:cNvPr>
          <p:cNvCxnSpPr>
            <a:cxnSpLocks/>
          </p:cNvCxnSpPr>
          <p:nvPr/>
        </p:nvCxnSpPr>
        <p:spPr>
          <a:xfrm flipV="1">
            <a:off x="9371502" y="4095679"/>
            <a:ext cx="58886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FDAE892-F336-A7C1-4105-8DC08723C440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09/32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855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9509-E686-13A0-9F5F-59468774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F8588-3D47-8741-0DBD-744F83E096D3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8A298C-0E18-EC9A-6C1E-B2246735BEA5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4101D-92CC-E462-135F-9871A45718AC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알고리즘 선택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173D5-B7B7-F710-C9BD-3FB9A164445D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GBP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시스템은 파라미터에 연속형과 이산형이 섞여 있으며 복잡도에 따라 시뮬레이션 실행 시간이 많이 걸릴 수도 있음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0344F-1D49-5217-3562-793C0B8002F4}"/>
              </a:ext>
            </a:extLst>
          </p:cNvPr>
          <p:cNvSpPr txBox="1"/>
          <p:nvPr/>
        </p:nvSpPr>
        <p:spPr>
          <a:xfrm>
            <a:off x="395286" y="2721484"/>
            <a:ext cx="11730038" cy="167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 기반 계열의 강화학습 알고리즘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핵심 아이디어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기존 정책을 조금만 업데이트하도록 제약 걸어 안정적인 학습 보장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여러 에피소드 데이터를 모아서 한 번에 업데이트 가능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이산을 동시에 제어 가능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FE6B5-2175-1075-7D46-7332157F918B}"/>
              </a:ext>
            </a:extLst>
          </p:cNvPr>
          <p:cNvSpPr txBox="1"/>
          <p:nvPr/>
        </p:nvSpPr>
        <p:spPr>
          <a:xfrm>
            <a:off x="395286" y="4712549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=&gt;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 효율적으로 쓰면서 안정적인 학습이 가능하고 연속형과 이산형 파라미터 동시 제어 가능한 알고리즘으로 활용하기 적절함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36F32-5910-A03D-1CB6-9EC4551E650B}"/>
              </a:ext>
            </a:extLst>
          </p:cNvPr>
          <p:cNvSpPr txBox="1"/>
          <p:nvPr/>
        </p:nvSpPr>
        <p:spPr>
          <a:xfrm>
            <a:off x="395285" y="2290597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[PPO]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474C4-9D1A-4EBA-90C7-158659AB3D35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11/32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2613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F4A6-18C5-7DF7-0E86-BCCAD9D65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72A037-F3C9-3D10-D811-28A252059EBB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DB29B1-3789-7A00-5F8A-92D4CB179BF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5716-6BBD-BE17-C3C5-5AD284E069E2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[PPO]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E0F03-CA04-C853-38B2-9DF9190D3A63}"/>
              </a:ext>
            </a:extLst>
          </p:cNvPr>
          <p:cNvSpPr txBox="1"/>
          <p:nvPr/>
        </p:nvSpPr>
        <p:spPr>
          <a:xfrm>
            <a:off x="395286" y="1641823"/>
            <a:ext cx="11730038" cy="10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Agent(Policy)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파라미터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가우시안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분포로 샘플링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 파라미터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softmax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확률로 샘플링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5F265-3D4D-5A28-5D37-F2161B2B90C1}"/>
              </a:ext>
            </a:extLst>
          </p:cNvPr>
          <p:cNvSpPr txBox="1"/>
          <p:nvPr/>
        </p:nvSpPr>
        <p:spPr>
          <a:xfrm>
            <a:off x="395286" y="2721484"/>
            <a:ext cx="11730038" cy="10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환경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(Simulator)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샘플링된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파라미터로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GBP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모델 실행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Collector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metrics(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 체류시간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 대기시간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처리율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총 소요시간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얻음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66463-FBA1-450E-3632-858DB427FB5B}"/>
              </a:ext>
            </a:extLst>
          </p:cNvPr>
          <p:cNvSpPr txBox="1"/>
          <p:nvPr/>
        </p:nvSpPr>
        <p:spPr>
          <a:xfrm>
            <a:off x="395286" y="3801145"/>
            <a:ext cx="11730038" cy="13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보상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(Reward)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다목적 지표를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scalar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체류시간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총 소요시간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처리율 최대화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비용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이용률 안정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(0.7 ~ 0.9)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아래의 식을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 적용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3466A02-285F-3F0C-9388-FF53607F5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95" y="5254943"/>
            <a:ext cx="6163535" cy="447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C9892-8826-E657-6115-197953D370F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10/32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535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F223-70BB-F1ED-7660-9CBB6A2E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797D6A-3F1A-0B0D-564E-21AE1ADE2F5D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C4895E-2A38-9DCC-BCC8-6D8F94F4AC22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950D3-DBD2-7FE9-F0EC-B12996A8E88D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[PPO]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0B05FC-4D51-1313-5973-AC4BE8AA49B2}"/>
                  </a:ext>
                </a:extLst>
              </p:cNvPr>
              <p:cNvSpPr txBox="1"/>
              <p:nvPr/>
            </p:nvSpPr>
            <p:spPr>
              <a:xfrm>
                <a:off x="395286" y="1641823"/>
                <a:ext cx="11730038" cy="3962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목적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총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400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개의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생산할 때 아래의 다목적 함수 값 최소화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− {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𝑡𝑖𝑚𝑒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𝑜𝑏𝑗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𝑡𝑖𝑚𝑒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𝑚𝑘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∗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Noto Sans CJK KR Medium" panose="020B0600000000000000" pitchFamily="34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Noto Sans CJK KR Medium" panose="020B0600000000000000" pitchFamily="34" charset="-127"/>
                                    </a:rPr>
                                    <m:t>𝑚𝑘</m:t>
                                  </m:r>
                                </m:num>
                                <m:den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Noto Sans CJK KR Medium" panose="020B0600000000000000" pitchFamily="34" charset="-127"/>
                                    </a:rPr>
                                    <m:t>𝑚𝑘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Noto Sans CJK KR Medium" panose="020B0600000000000000" pitchFamily="34" charset="-127"/>
                                    </a:rPr>
                                    <m:t> 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Noto Sans CJK KR Medium" panose="020B0600000000000000" pitchFamily="34" charset="-127"/>
                                    </a:rPr>
                                    <m:t>𝑠𝑐𝑎𝑙𝑒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−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Noto Sans CJK KR Medium" panose="020B0600000000000000" pitchFamily="34" charset="-127"/>
                                </a:rPr>
                                <m:t>𝑡h𝑟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Noto Sans CJK KR Medium" panose="020B0600000000000000" pitchFamily="34" charset="-127"/>
                            </a:rPr>
                            <m:t>𝑡h𝑟𝑜𝑢𝑔𝑝𝑢𝑡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𝑐𝑜𝑠𝑡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𝑟h𝑜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𝑝𝑒𝑛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CJK KR Medium" panose="020B0600000000000000" pitchFamily="34" charset="-127"/>
                        </a:rPr>
                        <m:t>)}</m:t>
                      </m:r>
                    </m:oMath>
                  </m:oMathPara>
                </a14:m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최소화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𝑡𝑖𝑚𝑒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∗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𝑜𝑏𝑗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𝑡𝑖𝑚𝑒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평균 체류 시간 최소화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𝑚𝑘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∗</m:t>
                    </m:r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𝑚𝑘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𝑚𝑘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𝑠𝑐𝑎𝑙𝑒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총 소요 시간 최소화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최대화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𝑡h𝑟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∗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𝑡h𝑟𝑜𝑢𝑔𝑝𝑢𝑡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생산량 최대화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제약 조건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𝑐𝑜𝑠𝑡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서버 수와 버퍼 용량에 따른 자원 비용 최소화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𝑟h𝑜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𝑝𝑒𝑛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시스템 이용률이 너무 높거나 낮지 않도록 </a:t>
                </a:r>
                <a:r>
                  <a:rPr lang="ko-KR" altLang="en-US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패널티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부여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0B05FC-4D51-1313-5973-AC4BE8AA4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641823"/>
                <a:ext cx="11730038" cy="3962239"/>
              </a:xfrm>
              <a:prstGeom prst="rect">
                <a:avLst/>
              </a:prstGeom>
              <a:blipFill>
                <a:blip r:embed="rId3"/>
                <a:stretch>
                  <a:fillRect l="-104" b="-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DE92FA1-CF3F-3D27-7F5B-95B8E2D1CE62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12/32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364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F3F8-B78D-DB48-D1E8-C1122649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317E5D-F536-E43E-7BAE-53B25F6A0670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1E79D-5CAB-983F-33E4-B8E1FC32B250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6730E-F53D-FDF9-A640-D84C32491B9D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[PPO]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99DEBB-B649-8559-1708-10D18F84B8D9}"/>
                  </a:ext>
                </a:extLst>
              </p:cNvPr>
              <p:cNvSpPr txBox="1"/>
              <p:nvPr/>
            </p:nvSpPr>
            <p:spPr>
              <a:xfrm>
                <a:off x="395286" y="1641823"/>
                <a:ext cx="11730038" cy="2966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파라미터 종류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연속형 파라미터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Interarrival: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도착 간격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𝜆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제어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service_rate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처리 속도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𝜇</m:t>
                    </m:r>
                  </m:oMath>
                </a14:m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제어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size_mu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하나의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을 처리하는 데 필요한 일의 양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size_sigma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: Job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의 불확실성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(Generator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가 정규분포로 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Job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크기를 </a:t>
                </a:r>
                <a:r>
                  <a:rPr lang="ko-KR" altLang="en-US" sz="1400" dirty="0" err="1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샘플링할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때 활용하는 파라미터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이산형 파라미터</a:t>
                </a:r>
                <a:endParaRPr lang="en-US" altLang="ko-KR" sz="1400" dirty="0"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Capacity: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버퍼 용량 후보군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(20, 50, 100)</a:t>
                </a:r>
              </a:p>
              <a:p>
                <a:pPr marL="1200150" lvl="2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Servers: </a:t>
                </a:r>
                <a:r>
                  <a:rPr lang="ko-KR" altLang="en-US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서버 개수 후보군</a:t>
                </a:r>
                <a:r>
                  <a:rPr lang="en-US" altLang="ko-KR" sz="1400" dirty="0"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(1, 2, 3, 4)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99DEBB-B649-8559-1708-10D18F84B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641823"/>
                <a:ext cx="11730038" cy="2966581"/>
              </a:xfrm>
              <a:prstGeom prst="rect">
                <a:avLst/>
              </a:prstGeom>
              <a:blipFill>
                <a:blip r:embed="rId3"/>
                <a:stretch>
                  <a:fillRect l="-104" b="-10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1A54A96-0355-FB4B-1DAA-F4B092EDF214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13/32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9612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A99D-6A3D-8B75-D452-40F0396E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375F08-DB3F-9C08-1431-E42518C69887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0053DF-ADC3-C65B-7BB3-134DECAEABBE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F9479-BF77-8568-9432-6252B707F40C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53C65-524B-7FE6-3001-F9E4A9F1867D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14/32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F92F-AB35-156E-3081-691F4D457419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클래스 초기화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E7809A8-520E-93A6-4BF4-F520419F2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346247"/>
            <a:ext cx="6983414" cy="39481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707182-5CF7-0445-34C2-43BC07E0370D}"/>
              </a:ext>
            </a:extLst>
          </p:cNvPr>
          <p:cNvSpPr txBox="1"/>
          <p:nvPr/>
        </p:nvSpPr>
        <p:spPr>
          <a:xfrm>
            <a:off x="7378700" y="2318370"/>
            <a:ext cx="4746624" cy="328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행동 파라미터와 이산 행동 파라미터 설정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행동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가우시안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분포 활용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평균과 표준편차를 함께 정의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과정을 통해 평균을 어떤 값으로 할 지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그리고 표준편차를 높일지 낮출지 결정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 행동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카테고리 분포 활용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Logits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은 각 선택지에 대한 선호도를 나타냄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양수 음수 모두 가능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상대적 크기가 중요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모두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으로 초기화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과정을 통해 각 선택지의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logit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07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8F1C-6ED2-0CCC-3195-ED9456D7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C69C4A-249F-4A3A-A9C5-62CEB8546664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426620-A94A-1AB6-7C54-8EE7FD70F660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AAD7F-9401-3B27-181A-B4A5D62FAF8A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15/32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09877-59C2-FFFD-C370-15BB109FF13C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2)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Softmax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연산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A4B3FC-5623-62C6-4CB5-777FF409D978}"/>
              </a:ext>
            </a:extLst>
          </p:cNvPr>
          <p:cNvSpPr txBox="1"/>
          <p:nvPr/>
        </p:nvSpPr>
        <p:spPr>
          <a:xfrm>
            <a:off x="395286" y="3546365"/>
            <a:ext cx="11517314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Logit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입력 받아서 합이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 되는 확률 배열로 변환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[1,2,3] -&gt; [0.09, 0.24, 0.67]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DF6BDA-5981-AF77-7FDE-63E7D3AE3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398319"/>
            <a:ext cx="4963218" cy="962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53B91-0ADF-BEC3-6210-97BF12DA412D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32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0EDF7-D3F8-7791-0968-B9CEC04D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5ABC14-BBDA-B34E-CE65-298D56BADAB7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D8CF6B-7EF8-5265-DF3F-48320E69AB96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8825A-FD7E-989A-4DA3-B3A7140A8104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16/32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65188-9F57-C1A1-6B76-F7215B4077D8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3) Sample batch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EF92D-9E29-4AD4-E82D-C78AF5D5796D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현재 에이전트의 정책에 따라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 size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행동 묶음을 생성하고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 행동들이 나중에 학습에 사용될 때 필요한 모든 계산 중간 값들을 캐시에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저장하여 반환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2A070-ED23-A0A1-3385-C2ABA4E9363D}"/>
              </a:ext>
            </a:extLst>
          </p:cNvPr>
          <p:cNvSpPr txBox="1"/>
          <p:nvPr/>
        </p:nvSpPr>
        <p:spPr>
          <a:xfrm>
            <a:off x="5492510" y="3032561"/>
            <a:ext cx="6607414" cy="232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행동 샘플링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평균과 표준편차로 정의된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가우시안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분포에서 무작위로 숫자 뽑음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Clip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추가하여 각 파라미터의 값 제한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xs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 size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개만큼의 유효한 연속 행동 묶음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 행동 샘플링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선호도 점수를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softmax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 통해 실제 확률 분포로 변환 후 행동 선택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caps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와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srvs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 size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개만큼의 이산 행동 묶음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B5C1FF-FE4B-60FF-7E4C-7B1F0FC70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0" y="3032561"/>
            <a:ext cx="5104050" cy="3190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5703B-4FD0-78F3-F36A-BBD90AF22831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378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48840-3870-4C0C-1BDF-E7C2BF70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271EC1-2D16-E762-F80F-A1C56C6F250A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3E4478-38BD-4AE9-20EF-2B408CA4BDEE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4CC40-73B1-41D8-C07C-255ACFDB823E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17/32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C4504-5061-87EE-4176-167C6122A1C5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3) Sample batch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45C53-5740-4ED2-F8B0-B7D87E7FAC00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현재 에이전트의 정책에 따라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 size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행동 묶음을 생성하고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 행동들이 나중에 학습에 사용될 때 필요한 모든 계산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중간값들을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캐시에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저장하여 반환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6BCF0-44B0-4017-C34A-2BA8D58FFB71}"/>
              </a:ext>
            </a:extLst>
          </p:cNvPr>
          <p:cNvSpPr txBox="1"/>
          <p:nvPr/>
        </p:nvSpPr>
        <p:spPr>
          <a:xfrm>
            <a:off x="5492510" y="2993188"/>
            <a:ext cx="6699490" cy="3612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로그 확률 계산 및 저장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Logp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어떤 행동이 뽑힐 확률에 로그를 취한 값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Old_logp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정책이 업데이트되기 전의 정책을 기준으로 계산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이후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 정책이 업데이트된 후의 새로운 로그 확률과 비교하는 기준점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이를 통해 정책이 얼마나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어떤 방향으로 변했는지 파악 가능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Old_logp_total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행동과 이산 행동은 독립적이라는 가정이 존재하므로 전체 행동 조합의 로그 확률은 모두 더한 것과 같음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캐시에 저장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Return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값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Xs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caps,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srvs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는 실제로 실행되는 행동이고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cache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함수로 전달되어 정책 계산에 활용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53375C-103C-807C-245D-A48296A44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0" y="3032561"/>
            <a:ext cx="5104050" cy="3190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0590D5-85DF-6761-88A0-A7E500462455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533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89B-D62A-A124-D7D9-19D805FB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8F70D-C131-3F17-AAB0-1C22CD98A674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CB56DC-7A92-B796-8E97-E672A71742BB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F9518-F105-C813-F85E-3E9EA48D5920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18/32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C7C45-5A53-3DEB-3291-FE7242B845F3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4) Log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 함수들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38B88-5937-DE3F-CF19-097F4D15F3E6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Gaussian_log_prob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주어진 연속 행동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xs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현재의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가우시안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(mu, sigma)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하에서 나타날 확률에 로그 씌운 값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Current_log_prob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루프 안에서 현재 시점의 정책 파라미터를 기준으로 캐시에 저장된 행동들의 로그 확률 다시 계산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67B91C-CB23-F3DE-3EEF-60E12675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1" y="3032561"/>
            <a:ext cx="6190140" cy="16072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15444A-84BD-90D2-DE5A-097E5A538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6" y="4717326"/>
            <a:ext cx="4915586" cy="1362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E5D3C5-5A88-27FC-831A-C83E463AB32F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2355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C18B-E92C-7736-6C7B-C3B2E84F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7144E0-30AA-A059-B968-FF74C58CB99F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E8E883-87B9-59AB-7CE2-1D65779643AE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6E2CE-9BD0-7B11-68F1-A8E1236A11E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19/32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FBBC0-AD92-2A25-FAC2-A7ECD87ED5CD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5) gradient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 함수들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CAE84-DBA1-22CD-E3EC-5BDB8D00FD59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Grad_logp_cond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mu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대한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gradient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sigma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대한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gradient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 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 행동에 대한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gradient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Grad_logp_categorical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 행동에 대한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gradient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9314B68-6DD0-FDE9-DA8B-40257924F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3224470"/>
            <a:ext cx="5201376" cy="14765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7B8790-A698-7AE4-2B75-C9030F2F9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0" y="5000177"/>
            <a:ext cx="4191585" cy="9240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A3A285-4175-252E-E937-2D7A70F63CF4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5824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0C83-3331-87D6-6060-BD9BD907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90021F-910B-3AD3-4FE8-1F8DCEBC9257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941D89-04D6-6336-3548-F9227F001D6F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47DCF-6D1D-0969-1639-61490ACDA6D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20/32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70FDE-6B27-AC02-CA73-D87D0ABDBB58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6) 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49FC5-9D80-6FF0-F9CC-277462D94690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경험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(cache)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 그 결과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(rewards)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바탕으로 보상을 더 많이 받을 가능성이 높은 방향으로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(mu, sigma, logits)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수정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Sample batch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에서 수집한 한 묶음의 데이터를 가지고 여러 번 반복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(epochs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수 만큼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15469E-43B5-C58E-47E4-095AD1236C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14"/>
          <a:stretch>
            <a:fillRect/>
          </a:stretch>
        </p:blipFill>
        <p:spPr>
          <a:xfrm>
            <a:off x="388460" y="3032561"/>
            <a:ext cx="5641613" cy="21621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4515D8-D6A3-3289-ECDD-4DBAB98DDD92}"/>
              </a:ext>
            </a:extLst>
          </p:cNvPr>
          <p:cNvSpPr txBox="1"/>
          <p:nvPr/>
        </p:nvSpPr>
        <p:spPr>
          <a:xfrm>
            <a:off x="6091236" y="2980489"/>
            <a:ext cx="5950984" cy="2966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데이터 수집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Xs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샘플링했던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연속 행동들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/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cap_idx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샘플링했던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용량 인덱스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/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srv_idx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샘플링했던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서버 수 인덱스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old_tot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과거 로그 확률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Advantage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Adv: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해당 행동이 평균적으로 얼마나 더 좋았는가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?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나타냄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 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상대적 크기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예시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이번 배치에서 얻은 보상 평균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점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어떤 행동의 보상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70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점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lvl="1"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 -&gt;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해당 행동의 보상은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+20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점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이후 학습의 안정화를 위해 표준화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표준편차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D1D5C-0D7E-73D6-9AB8-70F0F7A26AA5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4574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8CEC-8E01-5ED7-CD5D-305D9F5E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20B70F-C543-4244-480F-6200417E2DA6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57184E-96A9-A8ED-9F41-515175432143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9F05D-1BF1-D613-3EAF-D885596BB8C7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21/32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D3D02-E18F-0EE0-1A4E-58771CDB904C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6) 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5E675-AB87-4522-5637-89C922BC76D6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경험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(cache)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 그 결과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(rewards)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바탕으로 보상을 더 많이 받을 가능성이 높은 방향으로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(mu, sigma, logits)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수정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Sample batch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에서 수집한 한 묶음의 데이터를 가지고 여러 번 반복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(epochs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수 만큼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1570A-4EDA-BFB5-C7D7-FBB6745B3433}"/>
              </a:ext>
            </a:extLst>
          </p:cNvPr>
          <p:cNvSpPr txBox="1"/>
          <p:nvPr/>
        </p:nvSpPr>
        <p:spPr>
          <a:xfrm>
            <a:off x="6091236" y="2980489"/>
            <a:ext cx="5950984" cy="328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epoch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수만큼 학습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비율 계산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새로운 정책은 과거의 행동을 어떻게 평가하는지 계산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New_tot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for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루프 안에서 업데이트되는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mu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sigma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활용하여 새로운 정책을 기준으로 과거의 행동이 나타날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log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확률 다시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Ratio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만약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ratio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이상이면 정책을 바꾼 후 과거의 행동이 나올 확률이 더 높아졌다고 판단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만약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ratio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미만이면 정책을 바꾼 후 과거의 행동이 나올 확률이 더 낮아졌다고 판단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ratio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 변화의 방향과 크기 알려주는 중요한 신호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92D90A2-2509-6886-FAE7-3730FADA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576"/>
          <a:stretch>
            <a:fillRect/>
          </a:stretch>
        </p:blipFill>
        <p:spPr>
          <a:xfrm>
            <a:off x="395286" y="2980489"/>
            <a:ext cx="5535166" cy="1091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688295-DDA3-FB95-6480-9DCB609BAF86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60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6EDD-EB94-DAD6-D819-3F8DC007B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DE4804-589D-B8B8-5651-7D91DC022692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2CAF7A-4C69-EC35-4431-1A96C63EFD61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551FB-AB89-1ECA-88DA-86C51FE2198D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22/32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69533-CA0B-9E9E-38E1-5162589AEA84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6) 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380AE-6ACC-6A49-3DD7-33226749F968}"/>
              </a:ext>
            </a:extLst>
          </p:cNvPr>
          <p:cNvSpPr txBox="1"/>
          <p:nvPr/>
        </p:nvSpPr>
        <p:spPr>
          <a:xfrm>
            <a:off x="388460" y="2276065"/>
            <a:ext cx="1189244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목표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경험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(cache)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과 그 결과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(rewards)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바탕으로 보상을 더 많이 받을 가능성이 높은 방향으로 정책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(mu, sigma, logits)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수정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Sample batch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에서 수집한 한 묶음의 데이터를 가지고 여러 번 반복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(epochs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수 만큼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7FB71-0CA5-34B8-9B0F-D525F478B8B9}"/>
              </a:ext>
            </a:extLst>
          </p:cNvPr>
          <p:cNvSpPr txBox="1"/>
          <p:nvPr/>
        </p:nvSpPr>
        <p:spPr>
          <a:xfrm>
            <a:off x="4752499" y="2967283"/>
            <a:ext cx="7439501" cy="328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비율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클리핑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그래디언트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계산 및 정책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g_mu_samp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어느 방향으로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mu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움직여야 이 행동이 나올 확률이 높아지는지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w: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정책이 너무 급하게 변하지 않도록 변화의 폭 조절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Adv: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행동이 잘한 행동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(adv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양수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인지 못한 행동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(adv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음수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인지 확인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만약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어떤 행동이 평균보다 좋았다면 그 행동이 나올 확률을 높이는 방향으로 정책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만약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어떤 행동이 평균보다 나빴다면 행동이 나올 확률을 낮추는 방향으로 정책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Batch_size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모든 샘플에 대해 계산된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그래디언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트들을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평균내어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최정 업데이트 방향 하나로 결정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3BBDB15-26E3-A964-B896-898A8B5081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225"/>
          <a:stretch>
            <a:fillRect/>
          </a:stretch>
        </p:blipFill>
        <p:spPr>
          <a:xfrm>
            <a:off x="395286" y="2980489"/>
            <a:ext cx="4367214" cy="34774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DF49C7-2CCC-C3D5-16AA-25CA84AE9CE5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2781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8468-F88F-F34E-DEEC-3850DF64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9DF869-B2F0-E139-FD8F-5771644D9980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078D41-04A7-17B4-D3DF-EE46A5396F72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7FBA1-39D7-201D-D70A-F35066F6CD14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23/32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9AA10-5377-6F16-437E-7EE9D34ED27B}"/>
              </a:ext>
            </a:extLst>
          </p:cNvPr>
          <p:cNvSpPr txBox="1"/>
          <p:nvPr/>
        </p:nvSpPr>
        <p:spPr>
          <a:xfrm>
            <a:off x="395286" y="1641823"/>
            <a:ext cx="11730038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7) Summary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48D5B-05A7-4116-B920-C6A8B8B36A2B}"/>
              </a:ext>
            </a:extLst>
          </p:cNvPr>
          <p:cNvSpPr txBox="1"/>
          <p:nvPr/>
        </p:nvSpPr>
        <p:spPr>
          <a:xfrm>
            <a:off x="388460" y="2276065"/>
            <a:ext cx="1189244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학습 과정 중에 현재 상태를 확인하기 위한 단순 유틸리티 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866436E-4B99-ADA8-3CA2-FBA5CE46A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676420"/>
            <a:ext cx="5315692" cy="752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B42188-D95C-5BB0-9AE0-00CBF2619CC0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768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5642B-101D-7565-DD86-E639EBF2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C5A417-4A3D-0E75-0B08-074840E00C32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C76D47-0415-F8C0-71BB-BABB6D5FEC73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0994B-3D49-9294-DA29-7E96B8056FA5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xdevs_sim.py]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50CFC-A569-2A24-D77F-3B237AEFA003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24/32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4112-488C-10D4-C245-A4AEDDA6948E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2.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optimize_multi_params_ppo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DF2AD-E857-8CF2-0FC5-939B0A7DDF90}"/>
              </a:ext>
            </a:extLst>
          </p:cNvPr>
          <p:cNvSpPr txBox="1"/>
          <p:nvPr/>
        </p:nvSpPr>
        <p:spPr>
          <a:xfrm>
            <a:off x="6260305" y="2023081"/>
            <a:ext cx="6169503" cy="199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기본값 설정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만약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bounds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나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cont_init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값이 입력되지 않았다면 미리 정해둔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lvl="1"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기본값 사용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PPO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에이전트 생성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앞에서 설정한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PPOMultiPolicy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클래스 인스턴스 생성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해당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policy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객체가 학습하는 에이전트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E09FDE0-5F1B-0C57-4D63-3037DFFF0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029773"/>
            <a:ext cx="5760994" cy="45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11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B3EE5-A49D-9285-5C61-D4BEBED5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F97ED6-7AB3-B97B-716A-6FE309AB0B49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FBBC39-4E64-2DA1-AB39-9DC8101E5803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4BBE0-BBEF-AA22-2641-368BFB5F247E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xdevs_sim.py]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C82BB-2A67-2D81-2D12-D2C1B68326C1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25/32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6291B-ADE1-C8C1-A2DF-EECB565A640A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2.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optimize_multi_params_ppo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8CB8-3777-88B1-65ED-FAD00208E4EF}"/>
              </a:ext>
            </a:extLst>
          </p:cNvPr>
          <p:cNvSpPr txBox="1"/>
          <p:nvPr/>
        </p:nvSpPr>
        <p:spPr>
          <a:xfrm>
            <a:off x="7061201" y="2087623"/>
            <a:ext cx="5130799" cy="167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메인 루프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학습 단계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2a: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행동 샘플링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현재 정책에 따라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batch size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만큼 샘플링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2b: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시뮬레이션 실행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run_gbp_multi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샘플링 된 파라미터로 시뮬레이션 실행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01F5CF1-8257-A4B4-DD04-62C39D4C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2071142"/>
            <a:ext cx="6665914" cy="37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54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338B-870D-96D4-DE39-B5AD997E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DAC094-EC56-D6C3-B781-C6592E023B9D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2176DF-0F03-55AC-BB84-8999FEEBA7F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87575-333F-FE4C-3EA7-55FE9710C706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xdevs_sim.py]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976D6-65B4-CD99-BAE8-F6957D7A9236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26/32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DB82A-D736-F076-3682-BC20D69ADCD3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2.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optimize_multi_params_ppo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26463-B237-4A8A-1AB3-BC29D94D6175}"/>
              </a:ext>
            </a:extLst>
          </p:cNvPr>
          <p:cNvSpPr txBox="1"/>
          <p:nvPr/>
        </p:nvSpPr>
        <p:spPr>
          <a:xfrm>
            <a:off x="5372100" y="2023081"/>
            <a:ext cx="6753224" cy="10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2c: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목적 함수 및 보상 계산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시뮬레이션 결과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(m)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바탕으로 이번 파라미터 조합이 얼마나 좋았는지 판단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최소화가 목적이므로 음수로 변환하여 에이전트에 전달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402A74-D636-92AB-7209-759B9069E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023081"/>
            <a:ext cx="4976814" cy="438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84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4A97-CD63-C037-FD51-6862929B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3BE5CE-2A48-6869-7048-6344B0C1C89B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03.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모델 설정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PPO.py</a:t>
            </a:r>
            <a:endParaRPr lang="ko-KR" altLang="en-US" sz="20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2DFAD9-4CCD-38E7-6183-6ECA6A04C946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80F2E-9118-614D-75FA-CF6947EAC9F3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코드 설명 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– xdevs_sim.py]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06636-7D2D-BC74-C878-DCB234049226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27/32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57F26-BAC3-0DB6-27AB-8214591273C2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2. </a:t>
            </a: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optimize_multi_params_ppo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5525E-0276-B24F-F0F5-25F9EA153FDA}"/>
              </a:ext>
            </a:extLst>
          </p:cNvPr>
          <p:cNvSpPr txBox="1"/>
          <p:nvPr/>
        </p:nvSpPr>
        <p:spPr>
          <a:xfrm>
            <a:off x="5956300" y="2004305"/>
            <a:ext cx="6324600" cy="2643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2d: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이번에 계산된 점수가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best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보다 좋으면 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best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변수를 현재 파라미터와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점수로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2e: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캐시와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rewards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를 에이전트에 전달하여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(update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함수 실행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 파라미터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mu, sigma, logits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업데이트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2f: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학습 과정 로깅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현재 에피소드의 평균 점수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최고 점수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정책 파라미터 변화 등을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history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기억하고 모니터링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9113E17-49FB-8434-5251-0287ACB0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6" y="2075153"/>
            <a:ext cx="5611814" cy="19134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0A66C6-3262-9181-42B2-105905E60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243" b="59988"/>
          <a:stretch>
            <a:fillRect/>
          </a:stretch>
        </p:blipFill>
        <p:spPr>
          <a:xfrm>
            <a:off x="395286" y="4141468"/>
            <a:ext cx="5611814" cy="191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35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4E1B-5CB8-6ED0-9C7B-A4D5A2B9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D3D45B-86C2-58F2-2F2E-F8159EE53283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04.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기반 파라미터 최적화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81F328-C1CC-D63E-7826-C9DF9B041BED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06B05-4737-26BD-5674-EE64FD37D659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연속형 파라미터 학습 과정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530F7-ED22-8306-DEEC-285A603FBF9D}"/>
              </a:ext>
            </a:extLst>
          </p:cNvPr>
          <p:cNvSpPr txBox="1"/>
          <p:nvPr/>
        </p:nvSpPr>
        <p:spPr>
          <a:xfrm>
            <a:off x="6679405" y="2160716"/>
            <a:ext cx="5693570" cy="167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가지 연속형 파라미터의 평균값 변화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Interarrival: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최소값인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0.2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 빠르게 수렴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Service rate: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최대값인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도달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Size_mu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0.5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근처로 수렴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Size_sigma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0.05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근처로 감소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16" name="그림 15" descr="텍스트, 폰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ED62D1-5759-DB53-B41D-C4A04482C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6" y="2160716"/>
            <a:ext cx="5790957" cy="33091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8F2DC3-50B7-A9DD-476D-04A5F5328097}"/>
              </a:ext>
            </a:extLst>
          </p:cNvPr>
          <p:cNvSpPr txBox="1"/>
          <p:nvPr/>
        </p:nvSpPr>
        <p:spPr>
          <a:xfrm>
            <a:off x="6679405" y="4218851"/>
            <a:ext cx="5693570" cy="70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빠른 도착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높은 처리율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작은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Job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작은 분산 조합이 좋은 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    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전략임을 학습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7AC30-A14D-625D-485B-601B3248C8AD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28/32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5198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3736-2BC1-1FD3-0726-2B4AC937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71995A-07E0-B1CA-7FF9-9795F8795CD0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04.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기반 파라미터 최적화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1F2698-972F-9B27-3AB9-739B98AB6569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E245F-7BAA-D5B9-EBCD-317617046C8A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이산형 파라미터 학습 과정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436504-F55A-EEEB-3237-593DA5D8BF8A}"/>
              </a:ext>
            </a:extLst>
          </p:cNvPr>
          <p:cNvSpPr txBox="1"/>
          <p:nvPr/>
        </p:nvSpPr>
        <p:spPr>
          <a:xfrm>
            <a:off x="395286" y="4938660"/>
            <a:ext cx="569357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Capacity[0]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최소값인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고를 확률 증가</a:t>
            </a:r>
          </a:p>
        </p:txBody>
      </p:sp>
      <p:pic>
        <p:nvPicPr>
          <p:cNvPr id="5" name="그림 4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8D957B-BD1C-411B-5120-73598E77F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6" y="1943389"/>
            <a:ext cx="4826716" cy="2758123"/>
          </a:xfrm>
          <a:prstGeom prst="rect">
            <a:avLst/>
          </a:prstGeom>
        </p:spPr>
      </p:pic>
      <p:pic>
        <p:nvPicPr>
          <p:cNvPr id="8" name="그림 7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789C62-90C4-1BFA-8898-F442471FF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11" y="1943388"/>
            <a:ext cx="4826716" cy="27581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FB278A-89A3-31A1-B92E-A9A54BBE220E}"/>
              </a:ext>
            </a:extLst>
          </p:cNvPr>
          <p:cNvSpPr txBox="1"/>
          <p:nvPr/>
        </p:nvSpPr>
        <p:spPr>
          <a:xfrm>
            <a:off x="6386511" y="4938660"/>
            <a:ext cx="569357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400" dirty="0" err="1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Srv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[1]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2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서버 구성을 고를 확률 증가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77291F-163E-9C01-CD04-7054C4BFFBB4}"/>
              </a:ext>
            </a:extLst>
          </p:cNvPr>
          <p:cNvSpPr txBox="1"/>
          <p:nvPr/>
        </p:nvSpPr>
        <p:spPr>
          <a:xfrm>
            <a:off x="392904" y="5493052"/>
            <a:ext cx="11987214" cy="89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가장 좋은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best parameter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 서버는 그림과 달리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개가 도출이 되는데 이는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PPO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알고리즘의 특성인 평균적으로 괜찮은 선택을 강화하기 때문이라고 판단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* Server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개인 조건은 인터벌이 충분이 크고 서비스율이 높을 때 가장 효율적이므로 확률적으로는 자주 선택하지 않음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* Server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가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개인 조건은 안정적으로 이용률을 낮추고 대기 시간을 줄이므로 더 자주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9D82A-B8DE-BC7A-A045-DD88257AC2A6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29/32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724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933F-0BDA-9038-8822-0E816458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C105C1-A071-A50D-EF0F-3C9CEA475057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04.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기반 파라미터 최적화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78223B-CF6B-1018-51D1-F7429C2A22CF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74304-D556-8ED7-BD40-FDDC98E81950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결과 분석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485E7-1B45-045D-083F-6DC021809BF8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목적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총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400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Job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생산할 때 체류시간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총 소요시간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처리율 최대화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비용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이용률 안정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17D6E25-5435-0106-B3DD-EBE63CD7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153486"/>
              </p:ext>
            </p:extLst>
          </p:nvPr>
        </p:nvGraphicFramePr>
        <p:xfrm>
          <a:off x="2027236" y="2620297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715636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835647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0431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파라미터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AS-IS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TO-BE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4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interarrival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도착 간격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0.2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53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service_rate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처리 속도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1.2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76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capacity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버퍼 용량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50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88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servers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프로세서 개수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9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size_mu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작업 크기 평균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0.5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81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size_sigma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작업 크기 표준편차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0.2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effectLst/>
                          <a:latin typeface="Noto Sans CJK KR Medium" panose="020B0600000101010101" charset="-127"/>
                          <a:ea typeface="Noto Sans CJK KR Medium" panose="020B0600000101010101" charset="-127"/>
                        </a:rPr>
                        <a:t>0.05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493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112F78-C881-4D77-59F8-84DAFFF9E9EF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30/32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12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06CA-B222-CE17-274E-F21A81A1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218DC6-F357-3DD6-EEF4-94C19D174523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04.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기반 파라미터 최적화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218C21-73E8-BF86-2473-1BE41A09D3D2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ADB917-B747-087F-0EB5-6ADDCF4CC1FB}"/>
              </a:ext>
            </a:extLst>
          </p:cNvPr>
          <p:cNvSpPr txBox="1"/>
          <p:nvPr/>
        </p:nvSpPr>
        <p:spPr>
          <a:xfrm>
            <a:off x="395286" y="1158864"/>
            <a:ext cx="11391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[</a:t>
            </a:r>
            <a:r>
              <a:rPr lang="ko-KR" alt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결과 분석</a:t>
            </a:r>
            <a:r>
              <a:rPr lang="en-US" altLang="ko-KR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]</a:t>
            </a:r>
            <a:endParaRPr lang="ko-KR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FD513C-D2A8-2633-32C3-1B71B50FE13E}"/>
              </a:ext>
            </a:extLst>
          </p:cNvPr>
          <p:cNvSpPr txBox="1"/>
          <p:nvPr/>
        </p:nvSpPr>
        <p:spPr>
          <a:xfrm>
            <a:off x="395286" y="1641823"/>
            <a:ext cx="11730038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목적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총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400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개의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Job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생산할 때 체류시간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총 소요시간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처리율 최대화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비용 최소화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이용률 안정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D5B8A226-BF82-39CE-7D0B-26F4AF596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8844265"/>
                  </p:ext>
                </p:extLst>
              </p:nvPr>
            </p:nvGraphicFramePr>
            <p:xfrm>
              <a:off x="2027236" y="2233930"/>
              <a:ext cx="8128000" cy="2390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8715636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8356471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043106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443752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지표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최적화 이전 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단일 실행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최적화 이후 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(PPO </a:t>
                          </a: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개선율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6453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avg_time_in_system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</a:p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평균 체류 시간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 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0.936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0.149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84%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6535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avg_queueing_time</a:t>
                          </a: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평균 대기 시간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0.106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0.049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54%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3765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throughput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처리량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0.955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5.358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461%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1880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makespan</a:t>
                          </a: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총 소요 시간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418.88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74.65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82%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9598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scalar_obj</a:t>
                          </a: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  <a:p>
                          <a:pPr algn="ctr" rtl="0" fontAlgn="b">
                            <a:buNone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통합 </a:t>
                          </a:r>
                          <a:r>
                            <a:rPr lang="ko-KR" alt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목표값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-0.147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-0.296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201%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48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D5B8A226-BF82-39CE-7D0B-26F4AF596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8844265"/>
                  </p:ext>
                </p:extLst>
              </p:nvPr>
            </p:nvGraphicFramePr>
            <p:xfrm>
              <a:off x="2027236" y="2233930"/>
              <a:ext cx="8128000" cy="2390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8715636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8356471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043106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443752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지표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최적화 이전 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</a:t>
                          </a: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단일 실행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최적화 이후 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(PPO </a:t>
                          </a:r>
                          <a:r>
                            <a:rPr lang="ko-KR" altLang="en-US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최적</a:t>
                          </a: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)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ko-KR" altLang="en-US" sz="1200" dirty="0" err="1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개선율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effectLst/>
                            <a:latin typeface="Noto Sans CJK KR Medium" panose="020B0600000101010101" charset="-127"/>
                            <a:ea typeface="Noto Sans CJK KR Medium" panose="020B0600000101010101" charset="-127"/>
                          </a:endParaRP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645351"/>
                      </a:ext>
                    </a:extLst>
                  </a:tr>
                  <a:tr h="4038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93939" r="-30000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0.936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0.149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93939" r="-601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6535030"/>
                      </a:ext>
                    </a:extLst>
                  </a:tr>
                  <a:tr h="4038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91045" r="-300000" b="-3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0.106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0.049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91045" r="-601" b="-314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3765934"/>
                      </a:ext>
                    </a:extLst>
                  </a:tr>
                  <a:tr h="4038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95455" r="-300000" b="-2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0.955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5.358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95455" r="-601" b="-219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880622"/>
                      </a:ext>
                    </a:extLst>
                  </a:tr>
                  <a:tr h="4038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389552" r="-300000" b="-1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418.88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74.65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389552" r="-601" b="-1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9598042"/>
                      </a:ext>
                    </a:extLst>
                  </a:tr>
                  <a:tr h="4038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496970" r="-300000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-0.147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effectLst/>
                              <a:latin typeface="Noto Sans CJK KR Medium" panose="020B0600000101010101" charset="-127"/>
                              <a:ea typeface="Noto Sans CJK KR Medium" panose="020B0600000101010101" charset="-127"/>
                            </a:rPr>
                            <a:t>-0.296</a:t>
                          </a:r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575" marR="28575" marT="19050" marB="190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496970" r="-601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48105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9E32E99D-7EE6-411E-EBC2-D110EE982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6" y="5413109"/>
            <a:ext cx="11202963" cy="3905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E16179-1D75-AB12-E228-AEDFE5FB3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6" y="5915564"/>
            <a:ext cx="9069066" cy="419158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E4B97A-535F-268E-ADE0-A35C3D04FA9F}"/>
              </a:ext>
            </a:extLst>
          </p:cNvPr>
          <p:cNvSpPr/>
          <p:nvPr/>
        </p:nvSpPr>
        <p:spPr>
          <a:xfrm>
            <a:off x="226217" y="5143501"/>
            <a:ext cx="11730038" cy="127635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Noto Sans CJK KR Medium" panose="020B0600000101010101" charset="-127"/>
              <a:ea typeface="Noto Sans CJK KR Medium" panose="020B0600000101010101" charset="-127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7BBD70-2C7D-39AB-0050-860A2E73CBB5}"/>
              </a:ext>
            </a:extLst>
          </p:cNvPr>
          <p:cNvSpPr/>
          <p:nvPr/>
        </p:nvSpPr>
        <p:spPr>
          <a:xfrm>
            <a:off x="395286" y="4913899"/>
            <a:ext cx="1081089" cy="38125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CJK KR Medium" panose="020B0600000101010101" charset="-127"/>
                <a:cs typeface="Times New Roman" panose="02020603050405020304" pitchFamily="18" charset="0"/>
              </a:rPr>
              <a:t>실행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7E6E3-EB94-0EFA-D3FF-52F849B9373E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31/32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6671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37AF-69C7-C078-2C2C-9DB4E272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88316D-19CC-764C-5303-13FE6E2841C5}"/>
              </a:ext>
            </a:extLst>
          </p:cNvPr>
          <p:cNvSpPr txBox="1"/>
          <p:nvPr/>
        </p:nvSpPr>
        <p:spPr>
          <a:xfrm>
            <a:off x="395287" y="325424"/>
            <a:ext cx="9691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05. 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결론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63CD61-B17B-E44E-208B-543D7178173A}"/>
              </a:ext>
            </a:extLst>
          </p:cNvPr>
          <p:cNvSpPr/>
          <p:nvPr/>
        </p:nvSpPr>
        <p:spPr>
          <a:xfrm>
            <a:off x="0" y="6558473"/>
            <a:ext cx="12192000" cy="3090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BE8935-5C4F-114B-4176-93802C681C8E}"/>
              </a:ext>
            </a:extLst>
          </p:cNvPr>
          <p:cNvSpPr txBox="1"/>
          <p:nvPr/>
        </p:nvSpPr>
        <p:spPr>
          <a:xfrm>
            <a:off x="395287" y="1674289"/>
            <a:ext cx="11730038" cy="175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프로젝트 목적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DEVS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시뮬레이션 모델과 강화학습 알고리즘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(PPO)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결합하여 다중 서버 시스템의 운영 파라미터 최적화 방안 탐색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문제 해결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단일 시뮬레이션 실행 예시에서 나타난 비효율적인 시스템 운영 문제 해결</a:t>
            </a:r>
            <a:endParaRPr lang="en-US" altLang="ko-KR" sz="14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결과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: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 알고리즘을 통해 다목적 통합 목표 값을 약 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201% 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향상시킴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즉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강화학습이 복합적인 성능 목표와 자원 제약을 동시에 고려하여 </a:t>
            </a:r>
            <a:r>
              <a:rPr lang="en-US" altLang="ko-KR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DEVS </a:t>
            </a:r>
            <a:r>
              <a:rPr lang="ko-KR" alt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시뮬레이션 모델의 운영 파라미터를 최적화할 수 있음</a:t>
            </a:r>
            <a:r>
              <a:rPr lang="ko-KR" altLang="en-US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을 보여줌</a:t>
            </a:r>
            <a:r>
              <a:rPr lang="en-US" altLang="ko-KR" sz="14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60843-8A24-8DB8-9240-7BEE509007AB}"/>
              </a:ext>
            </a:extLst>
          </p:cNvPr>
          <p:cNvSpPr txBox="1"/>
          <p:nvPr/>
        </p:nvSpPr>
        <p:spPr>
          <a:xfrm>
            <a:off x="11619549" y="6589891"/>
            <a:ext cx="572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00" dirty="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32/32</a:t>
            </a:r>
            <a:endParaRPr lang="ko-KR" altLang="en-US" sz="1000" dirty="0">
              <a:solidFill>
                <a:schemeClr val="bg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078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B399B4E-53BE-22FC-3CE7-836B14BEEBD5}"/>
              </a:ext>
            </a:extLst>
          </p:cNvPr>
          <p:cNvSpPr/>
          <p:nvPr/>
        </p:nvSpPr>
        <p:spPr>
          <a:xfrm>
            <a:off x="-1" y="-21012"/>
            <a:ext cx="637615" cy="68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CCB4C-3180-CC38-A674-8A438842A9C8}"/>
              </a:ext>
            </a:extLst>
          </p:cNvPr>
          <p:cNvSpPr txBox="1"/>
          <p:nvPr/>
        </p:nvSpPr>
        <p:spPr>
          <a:xfrm>
            <a:off x="3739289" y="2709209"/>
            <a:ext cx="59848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>
                <a:solidFill>
                  <a:schemeClr val="tx2">
                    <a:lumMod val="90000"/>
                    <a:lumOff val="1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감사합니다</a:t>
            </a:r>
            <a:endParaRPr lang="ko-KR" altLang="en-US" sz="4400" dirty="0">
              <a:solidFill>
                <a:schemeClr val="tx2">
                  <a:lumMod val="90000"/>
                  <a:lumOff val="10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5" name="Picture 2" descr="개별이미지 시그니춰 좌우조합(국문)">
            <a:extLst>
              <a:ext uri="{FF2B5EF4-FFF2-40B4-BE49-F238E27FC236}">
                <a16:creationId xmlns:a16="http://schemas.microsoft.com/office/drawing/2014/main" id="{710DA6A9-F5E7-88AE-F7E6-318A8BC306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" t="9272" r="49998" b="50898"/>
          <a:stretch/>
        </p:blipFill>
        <p:spPr bwMode="auto">
          <a:xfrm>
            <a:off x="5264876" y="4775685"/>
            <a:ext cx="2933700" cy="504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8671FA-E982-16D5-479C-FED4D974E13D}"/>
              </a:ext>
            </a:extLst>
          </p:cNvPr>
          <p:cNvSpPr txBox="1"/>
          <p:nvPr/>
        </p:nvSpPr>
        <p:spPr>
          <a:xfrm>
            <a:off x="5621783" y="3478650"/>
            <a:ext cx="2219886" cy="340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CJK KR Medium" panose="020B0600000000000000" pitchFamily="34" charset="-127"/>
                <a:ea typeface="Noto Sans CJK KR Medium" panose="020B0600000000000000" pitchFamily="34" charset="-127"/>
                <a:hlinkClick r:id="rId4"/>
              </a:rPr>
              <a:t>yeji11138@seoultech.ac.kr</a:t>
            </a:r>
            <a:r>
              <a:rPr lang="en-US" altLang="ko-KR" sz="12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</a:t>
            </a:r>
            <a:endParaRPr lang="en-US" altLang="ko-KR" sz="1400" b="1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2371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73562</TotalTime>
  <Words>3156</Words>
  <Application>Microsoft Office PowerPoint</Application>
  <PresentationFormat>와이드스크린</PresentationFormat>
  <Paragraphs>456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Arial</vt:lpstr>
      <vt:lpstr>Cambria Math</vt:lpstr>
      <vt:lpstr>맑은 고딕</vt:lpstr>
      <vt:lpstr>Noto Sans CJK KR Medium</vt:lpstr>
      <vt:lpstr>Times New Roman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홍민주</dc:creator>
  <cp:lastModifiedBy>최예지</cp:lastModifiedBy>
  <cp:revision>1707</cp:revision>
  <dcterms:created xsi:type="dcterms:W3CDTF">2024-07-14T06:47:53Z</dcterms:created>
  <dcterms:modified xsi:type="dcterms:W3CDTF">2025-09-01T05:10:20Z</dcterms:modified>
</cp:coreProperties>
</file>